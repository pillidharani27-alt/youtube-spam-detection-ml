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86" r:id="rId18"/>
    <p:sldId id="274" r:id="rId19"/>
    <p:sldId id="275" r:id="rId20"/>
    <p:sldId id="276" r:id="rId21"/>
    <p:sldId id="277" r:id="rId22"/>
    <p:sldId id="278" r:id="rId23"/>
    <p:sldId id="279" r:id="rId24"/>
    <p:sldId id="280" r:id="rId25"/>
    <p:sldId id="283" r:id="rId26"/>
    <p:sldId id="284" r:id="rId27"/>
    <p:sldId id="285" r:id="rId28"/>
    <p:sldId id="287" r:id="rId29"/>
    <p:sldId id="288" r:id="rId30"/>
    <p:sldId id="289" r:id="rId31"/>
    <p:sldId id="290" r:id="rId32"/>
    <p:sldId id="282" r:id="rId33"/>
    <p:sldId id="291" r:id="rId34"/>
    <p:sldId id="292" r:id="rId35"/>
    <p:sldId id="267" r:id="rId3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5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F43ECD-7A75-4E59-8825-A5455736FEDE}" v="3" dt="2025-06-06T05:19:01.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62"/>
      </p:cViewPr>
      <p:guideLst>
        <p:guide orient="horz" pos="2857"/>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400" b="1" i="0">
                <a:solidFill>
                  <a:srgbClr val="C00000"/>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348615" y="1642109"/>
            <a:ext cx="2550160" cy="3571240"/>
          </a:xfrm>
          <a:prstGeom prst="rect">
            <a:avLst/>
          </a:prstGeom>
        </p:spPr>
        <p:txBody>
          <a:bodyPr wrap="square" lIns="0" tIns="0" rIns="0" bIns="0">
            <a:spAutoFit/>
          </a:bodyPr>
          <a:lstStyle>
            <a:lvl1pPr>
              <a:defRPr sz="18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9199" y="673100"/>
            <a:ext cx="7216140" cy="25400"/>
          </a:xfrm>
          <a:custGeom>
            <a:avLst/>
            <a:gdLst/>
            <a:ahLst/>
            <a:cxnLst/>
            <a:rect l="l" t="t" r="r" b="b"/>
            <a:pathLst>
              <a:path w="7216140" h="25400">
                <a:moveTo>
                  <a:pt x="7215581" y="25400"/>
                </a:moveTo>
                <a:lnTo>
                  <a:pt x="0" y="25400"/>
                </a:lnTo>
                <a:lnTo>
                  <a:pt x="0" y="0"/>
                </a:lnTo>
                <a:lnTo>
                  <a:pt x="7215581" y="0"/>
                </a:lnTo>
                <a:lnTo>
                  <a:pt x="7215581" y="25400"/>
                </a:lnTo>
                <a:close/>
              </a:path>
            </a:pathLst>
          </a:custGeom>
          <a:solidFill>
            <a:srgbClr val="D24624"/>
          </a:solidFill>
        </p:spPr>
        <p:txBody>
          <a:bodyPr wrap="square" lIns="0" tIns="0" rIns="0" bIns="0" rtlCol="0"/>
          <a:lstStyle/>
          <a:p>
            <a:endParaRPr/>
          </a:p>
        </p:txBody>
      </p:sp>
      <p:sp>
        <p:nvSpPr>
          <p:cNvPr id="17" name="bg object 17"/>
          <p:cNvSpPr/>
          <p:nvPr/>
        </p:nvSpPr>
        <p:spPr>
          <a:xfrm>
            <a:off x="0" y="0"/>
            <a:ext cx="9144000" cy="6858000"/>
          </a:xfrm>
          <a:custGeom>
            <a:avLst/>
            <a:gdLst/>
            <a:ahLst/>
            <a:cxnLst/>
            <a:rect l="l" t="t" r="r" b="b"/>
            <a:pathLst>
              <a:path w="9144000" h="6858000">
                <a:moveTo>
                  <a:pt x="7234301" y="6775818"/>
                </a:moveTo>
                <a:lnTo>
                  <a:pt x="7227951" y="6769468"/>
                </a:lnTo>
                <a:lnTo>
                  <a:pt x="79946" y="6769468"/>
                </a:lnTo>
                <a:lnTo>
                  <a:pt x="79946" y="1689354"/>
                </a:lnTo>
                <a:lnTo>
                  <a:pt x="79946" y="1683004"/>
                </a:lnTo>
                <a:lnTo>
                  <a:pt x="79629" y="1681035"/>
                </a:lnTo>
                <a:lnTo>
                  <a:pt x="78727" y="1679270"/>
                </a:lnTo>
                <a:lnTo>
                  <a:pt x="77317" y="1677860"/>
                </a:lnTo>
                <a:lnTo>
                  <a:pt x="75552" y="1676958"/>
                </a:lnTo>
                <a:lnTo>
                  <a:pt x="73596" y="1676654"/>
                </a:lnTo>
                <a:lnTo>
                  <a:pt x="0" y="1676654"/>
                </a:lnTo>
                <a:lnTo>
                  <a:pt x="0" y="1682750"/>
                </a:lnTo>
                <a:lnTo>
                  <a:pt x="0" y="1689354"/>
                </a:lnTo>
                <a:lnTo>
                  <a:pt x="0" y="6775450"/>
                </a:lnTo>
                <a:lnTo>
                  <a:pt x="0" y="6851650"/>
                </a:lnTo>
                <a:lnTo>
                  <a:pt x="0" y="6858000"/>
                </a:lnTo>
                <a:lnTo>
                  <a:pt x="6350" y="6858000"/>
                </a:lnTo>
                <a:lnTo>
                  <a:pt x="7221601" y="6858000"/>
                </a:lnTo>
                <a:lnTo>
                  <a:pt x="7227951" y="6858000"/>
                </a:lnTo>
                <a:lnTo>
                  <a:pt x="7234301" y="6858000"/>
                </a:lnTo>
                <a:lnTo>
                  <a:pt x="7234301" y="6851650"/>
                </a:lnTo>
                <a:lnTo>
                  <a:pt x="7234301" y="6782168"/>
                </a:lnTo>
                <a:lnTo>
                  <a:pt x="7234301" y="6775818"/>
                </a:lnTo>
                <a:close/>
              </a:path>
              <a:path w="9144000" h="6858000">
                <a:moveTo>
                  <a:pt x="9144000" y="0"/>
                </a:moveTo>
                <a:lnTo>
                  <a:pt x="9137650" y="0"/>
                </a:lnTo>
                <a:lnTo>
                  <a:pt x="1922399" y="0"/>
                </a:lnTo>
                <a:lnTo>
                  <a:pt x="1916049" y="0"/>
                </a:lnTo>
                <a:lnTo>
                  <a:pt x="1909699" y="0"/>
                </a:lnTo>
                <a:lnTo>
                  <a:pt x="1909699" y="82169"/>
                </a:lnTo>
                <a:lnTo>
                  <a:pt x="1916049" y="88519"/>
                </a:lnTo>
                <a:lnTo>
                  <a:pt x="9064117" y="88519"/>
                </a:lnTo>
                <a:lnTo>
                  <a:pt x="9064117" y="5174996"/>
                </a:lnTo>
                <a:lnTo>
                  <a:pt x="9070467" y="5181346"/>
                </a:lnTo>
                <a:lnTo>
                  <a:pt x="9144000" y="5181346"/>
                </a:lnTo>
                <a:lnTo>
                  <a:pt x="9144000" y="5175250"/>
                </a:lnTo>
                <a:lnTo>
                  <a:pt x="9144000" y="5174996"/>
                </a:lnTo>
                <a:lnTo>
                  <a:pt x="9144000" y="5168646"/>
                </a:lnTo>
                <a:lnTo>
                  <a:pt x="9144000" y="82550"/>
                </a:lnTo>
                <a:lnTo>
                  <a:pt x="9144000" y="6350"/>
                </a:lnTo>
                <a:lnTo>
                  <a:pt x="9144000" y="0"/>
                </a:lnTo>
                <a:close/>
              </a:path>
            </a:pathLst>
          </a:custGeom>
          <a:solidFill>
            <a:srgbClr val="E24639"/>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7229856" y="124968"/>
            <a:ext cx="1772411" cy="629412"/>
          </a:xfrm>
          <a:prstGeom prst="rect">
            <a:avLst/>
          </a:prstGeom>
        </p:spPr>
      </p:pic>
      <p:sp>
        <p:nvSpPr>
          <p:cNvPr id="2" name="Holder 2"/>
          <p:cNvSpPr>
            <a:spLocks noGrp="1"/>
          </p:cNvSpPr>
          <p:nvPr>
            <p:ph type="title"/>
          </p:nvPr>
        </p:nvSpPr>
        <p:spPr>
          <a:xfrm>
            <a:off x="1323594" y="89915"/>
            <a:ext cx="5970905" cy="528320"/>
          </a:xfrm>
          <a:prstGeom prst="rect">
            <a:avLst/>
          </a:prstGeom>
        </p:spPr>
        <p:txBody>
          <a:bodyPr wrap="square" lIns="0" tIns="0" rIns="0" bIns="0">
            <a:spAutoFit/>
          </a:bodyPr>
          <a:lstStyle>
            <a:lvl1pPr>
              <a:defRPr sz="2400" b="1" i="0">
                <a:solidFill>
                  <a:srgbClr val="C00000"/>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277723" y="1140586"/>
            <a:ext cx="8588552" cy="3228340"/>
          </a:xfrm>
          <a:prstGeom prst="rect">
            <a:avLst/>
          </a:prstGeom>
        </p:spPr>
        <p:txBody>
          <a:bodyPr wrap="square" lIns="0" tIns="0" rIns="0" bIns="0">
            <a:spAutoFit/>
          </a:bodyPr>
          <a:lstStyle>
            <a:lvl1pPr>
              <a:defRPr sz="18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8845" y="1528775"/>
            <a:ext cx="2487930" cy="514350"/>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4470C4"/>
                </a:solidFill>
                <a:latin typeface="Times New Roman" panose="02020603050405020304"/>
                <a:cs typeface="Times New Roman" panose="02020603050405020304"/>
              </a:rPr>
              <a:t>Student</a:t>
            </a:r>
            <a:r>
              <a:rPr sz="3200" spc="-70" dirty="0">
                <a:solidFill>
                  <a:srgbClr val="4470C4"/>
                </a:solidFill>
                <a:latin typeface="Times New Roman" panose="02020603050405020304"/>
                <a:cs typeface="Times New Roman" panose="02020603050405020304"/>
              </a:rPr>
              <a:t> </a:t>
            </a:r>
            <a:r>
              <a:rPr sz="3200" spc="-20" dirty="0">
                <a:solidFill>
                  <a:srgbClr val="4470C4"/>
                </a:solidFill>
                <a:latin typeface="Times New Roman" panose="02020603050405020304"/>
                <a:cs typeface="Times New Roman" panose="02020603050405020304"/>
              </a:rPr>
              <a:t>Name</a:t>
            </a:r>
            <a:endParaRPr sz="3200">
              <a:latin typeface="Times New Roman" panose="02020603050405020304"/>
              <a:cs typeface="Times New Roman" panose="02020603050405020304"/>
            </a:endParaRPr>
          </a:p>
        </p:txBody>
      </p:sp>
      <p:sp>
        <p:nvSpPr>
          <p:cNvPr id="3" name="object 3"/>
          <p:cNvSpPr txBox="1"/>
          <p:nvPr/>
        </p:nvSpPr>
        <p:spPr>
          <a:xfrm>
            <a:off x="3590645" y="1631010"/>
            <a:ext cx="176911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470C4"/>
                </a:solidFill>
                <a:latin typeface="Times New Roman" panose="02020603050405020304"/>
                <a:cs typeface="Times New Roman" panose="02020603050405020304"/>
              </a:rPr>
              <a:t>:</a:t>
            </a:r>
            <a:r>
              <a:rPr sz="2400" b="1" spc="-20" dirty="0">
                <a:solidFill>
                  <a:srgbClr val="4470C4"/>
                </a:solidFill>
                <a:latin typeface="Times New Roman" panose="02020603050405020304"/>
                <a:cs typeface="Times New Roman" panose="02020603050405020304"/>
              </a:rPr>
              <a:t> </a:t>
            </a:r>
            <a:r>
              <a:rPr sz="2400" b="1" spc="-55" dirty="0">
                <a:solidFill>
                  <a:srgbClr val="4470C4"/>
                </a:solidFill>
                <a:latin typeface="Times New Roman" panose="02020603050405020304"/>
                <a:cs typeface="Times New Roman" panose="02020603050405020304"/>
              </a:rPr>
              <a:t>P.V.Dharani</a:t>
            </a:r>
            <a:endParaRPr sz="2400">
              <a:latin typeface="Times New Roman" panose="02020603050405020304"/>
              <a:cs typeface="Times New Roman" panose="02020603050405020304"/>
            </a:endParaRPr>
          </a:p>
        </p:txBody>
      </p:sp>
      <p:sp>
        <p:nvSpPr>
          <p:cNvPr id="4" name="object 4"/>
          <p:cNvSpPr txBox="1"/>
          <p:nvPr/>
        </p:nvSpPr>
        <p:spPr>
          <a:xfrm>
            <a:off x="3591305" y="2460625"/>
            <a:ext cx="183261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470C4"/>
                </a:solidFill>
                <a:latin typeface="Times New Roman" panose="02020603050405020304"/>
                <a:cs typeface="Times New Roman" panose="02020603050405020304"/>
              </a:rPr>
              <a:t>:</a:t>
            </a:r>
            <a:r>
              <a:rPr sz="2400" b="1" spc="-20" dirty="0">
                <a:solidFill>
                  <a:srgbClr val="4470C4"/>
                </a:solidFill>
                <a:latin typeface="Times New Roman" panose="02020603050405020304"/>
                <a:cs typeface="Times New Roman" panose="02020603050405020304"/>
              </a:rPr>
              <a:t> </a:t>
            </a:r>
            <a:r>
              <a:rPr sz="2400" b="1" spc="-10" dirty="0">
                <a:solidFill>
                  <a:srgbClr val="4470C4"/>
                </a:solidFill>
                <a:latin typeface="Times New Roman" panose="02020603050405020304"/>
                <a:cs typeface="Times New Roman" panose="02020603050405020304"/>
              </a:rPr>
              <a:t>23BFF00097</a:t>
            </a:r>
            <a:endParaRPr sz="2400">
              <a:latin typeface="Times New Roman" panose="02020603050405020304"/>
              <a:cs typeface="Times New Roman" panose="02020603050405020304"/>
            </a:endParaRPr>
          </a:p>
        </p:txBody>
      </p:sp>
      <p:sp>
        <p:nvSpPr>
          <p:cNvPr id="5" name="object 5"/>
          <p:cNvSpPr txBox="1"/>
          <p:nvPr/>
        </p:nvSpPr>
        <p:spPr>
          <a:xfrm>
            <a:off x="618845" y="2352167"/>
            <a:ext cx="2169160" cy="1326515"/>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4470C4"/>
                </a:solidFill>
                <a:latin typeface="Times New Roman" panose="02020603050405020304"/>
                <a:cs typeface="Times New Roman" panose="02020603050405020304"/>
              </a:rPr>
              <a:t>Roll</a:t>
            </a:r>
            <a:r>
              <a:rPr sz="3200" b="1" spc="-20" dirty="0">
                <a:solidFill>
                  <a:srgbClr val="4470C4"/>
                </a:solidFill>
                <a:latin typeface="Times New Roman" panose="02020603050405020304"/>
                <a:cs typeface="Times New Roman" panose="02020603050405020304"/>
              </a:rPr>
              <a:t> </a:t>
            </a:r>
            <a:r>
              <a:rPr sz="3200" b="1" spc="-25" dirty="0">
                <a:solidFill>
                  <a:srgbClr val="4470C4"/>
                </a:solidFill>
                <a:latin typeface="Times New Roman" panose="02020603050405020304"/>
                <a:cs typeface="Times New Roman" panose="02020603050405020304"/>
              </a:rPr>
              <a:t>No</a:t>
            </a:r>
            <a:endParaRPr sz="3200">
              <a:latin typeface="Times New Roman" panose="02020603050405020304"/>
              <a:cs typeface="Times New Roman" panose="02020603050405020304"/>
            </a:endParaRPr>
          </a:p>
          <a:p>
            <a:pPr marL="12700">
              <a:lnSpc>
                <a:spcPct val="100000"/>
              </a:lnSpc>
              <a:spcBef>
                <a:spcPts val="2555"/>
              </a:spcBef>
            </a:pPr>
            <a:r>
              <a:rPr sz="3200" b="1" spc="-25" dirty="0">
                <a:solidFill>
                  <a:srgbClr val="4470C4"/>
                </a:solidFill>
                <a:latin typeface="Times New Roman" panose="02020603050405020304"/>
                <a:cs typeface="Times New Roman" panose="02020603050405020304"/>
              </a:rPr>
              <a:t>Project</a:t>
            </a:r>
            <a:r>
              <a:rPr sz="3200" b="1" spc="-135" dirty="0">
                <a:solidFill>
                  <a:srgbClr val="4470C4"/>
                </a:solidFill>
                <a:latin typeface="Times New Roman" panose="02020603050405020304"/>
                <a:cs typeface="Times New Roman" panose="02020603050405020304"/>
              </a:rPr>
              <a:t> </a:t>
            </a:r>
            <a:r>
              <a:rPr sz="3200" b="1" spc="-20" dirty="0">
                <a:solidFill>
                  <a:srgbClr val="4470C4"/>
                </a:solidFill>
                <a:latin typeface="Times New Roman" panose="02020603050405020304"/>
                <a:cs typeface="Times New Roman" panose="02020603050405020304"/>
              </a:rPr>
              <a:t>Title</a:t>
            </a:r>
            <a:endParaRPr sz="3200">
              <a:latin typeface="Times New Roman" panose="02020603050405020304"/>
              <a:cs typeface="Times New Roman" panose="02020603050405020304"/>
            </a:endParaRPr>
          </a:p>
        </p:txBody>
      </p:sp>
      <p:sp>
        <p:nvSpPr>
          <p:cNvPr id="6" name="object 6"/>
          <p:cNvSpPr txBox="1"/>
          <p:nvPr/>
        </p:nvSpPr>
        <p:spPr>
          <a:xfrm>
            <a:off x="3616960" y="3150235"/>
            <a:ext cx="4596130" cy="927100"/>
          </a:xfrm>
          <a:prstGeom prst="rect">
            <a:avLst/>
          </a:prstGeom>
        </p:spPr>
        <p:txBody>
          <a:bodyPr vert="horz" wrap="square" lIns="0" tIns="12700" rIns="0" bIns="0" rtlCol="0">
            <a:noAutofit/>
          </a:bodyPr>
          <a:lstStyle/>
          <a:p>
            <a:pPr marL="181610" marR="5080" indent="-169545">
              <a:lnSpc>
                <a:spcPct val="110000"/>
              </a:lnSpc>
              <a:spcBef>
                <a:spcPts val="100"/>
              </a:spcBef>
            </a:pPr>
            <a:r>
              <a:rPr sz="2400" b="1" dirty="0">
                <a:solidFill>
                  <a:srgbClr val="4470C4"/>
                </a:solidFill>
                <a:latin typeface="Times New Roman" panose="02020603050405020304"/>
                <a:cs typeface="Times New Roman" panose="02020603050405020304"/>
              </a:rPr>
              <a:t>:</a:t>
            </a:r>
            <a:r>
              <a:rPr sz="2400" b="1" spc="-75" dirty="0">
                <a:solidFill>
                  <a:srgbClr val="4470C4"/>
                </a:solidFill>
                <a:latin typeface="Times New Roman" panose="02020603050405020304"/>
                <a:cs typeface="Times New Roman" panose="02020603050405020304"/>
              </a:rPr>
              <a:t> </a:t>
            </a:r>
            <a:r>
              <a:rPr sz="2400" b="1" dirty="0">
                <a:solidFill>
                  <a:srgbClr val="4470C4"/>
                </a:solidFill>
                <a:latin typeface="Times New Roman" panose="02020603050405020304"/>
                <a:cs typeface="Times New Roman" panose="02020603050405020304"/>
              </a:rPr>
              <a:t>Machine</a:t>
            </a:r>
            <a:r>
              <a:rPr sz="2400" b="1" spc="-85" dirty="0">
                <a:solidFill>
                  <a:srgbClr val="4470C4"/>
                </a:solidFill>
                <a:latin typeface="Times New Roman" panose="02020603050405020304"/>
                <a:cs typeface="Times New Roman" panose="02020603050405020304"/>
              </a:rPr>
              <a:t> </a:t>
            </a:r>
            <a:r>
              <a:rPr sz="2400" b="1" dirty="0">
                <a:solidFill>
                  <a:srgbClr val="4470C4"/>
                </a:solidFill>
                <a:latin typeface="Times New Roman" panose="02020603050405020304"/>
                <a:cs typeface="Times New Roman" panose="02020603050405020304"/>
              </a:rPr>
              <a:t>Learning</a:t>
            </a:r>
            <a:r>
              <a:rPr sz="2400" b="1" spc="-85" dirty="0">
                <a:solidFill>
                  <a:srgbClr val="4470C4"/>
                </a:solidFill>
                <a:latin typeface="Times New Roman" panose="02020603050405020304"/>
                <a:cs typeface="Times New Roman" panose="02020603050405020304"/>
              </a:rPr>
              <a:t> </a:t>
            </a:r>
            <a:r>
              <a:rPr sz="2400" b="1" dirty="0">
                <a:solidFill>
                  <a:srgbClr val="4470C4"/>
                </a:solidFill>
                <a:latin typeface="Times New Roman" panose="02020603050405020304"/>
                <a:cs typeface="Times New Roman" panose="02020603050405020304"/>
              </a:rPr>
              <a:t>based</a:t>
            </a:r>
            <a:r>
              <a:rPr sz="2400" b="1" spc="-90" dirty="0">
                <a:solidFill>
                  <a:srgbClr val="4470C4"/>
                </a:solidFill>
                <a:latin typeface="Times New Roman" panose="02020603050405020304"/>
                <a:cs typeface="Times New Roman" panose="02020603050405020304"/>
              </a:rPr>
              <a:t> </a:t>
            </a:r>
            <a:r>
              <a:rPr sz="2400" b="1" spc="-20" dirty="0">
                <a:solidFill>
                  <a:srgbClr val="4470C4"/>
                </a:solidFill>
                <a:latin typeface="Times New Roman" panose="02020603050405020304"/>
                <a:cs typeface="Times New Roman" panose="02020603050405020304"/>
              </a:rPr>
              <a:t>Spam </a:t>
            </a:r>
            <a:r>
              <a:rPr sz="2400" b="1" spc="-10" dirty="0">
                <a:solidFill>
                  <a:srgbClr val="4470C4"/>
                </a:solidFill>
                <a:latin typeface="Times New Roman" panose="02020603050405020304"/>
                <a:cs typeface="Times New Roman" panose="02020603050405020304"/>
              </a:rPr>
              <a:t>Comments</a:t>
            </a:r>
            <a:r>
              <a:rPr sz="2400" b="1" spc="-135" dirty="0">
                <a:solidFill>
                  <a:srgbClr val="4470C4"/>
                </a:solidFill>
                <a:latin typeface="Times New Roman" panose="02020603050405020304"/>
                <a:cs typeface="Times New Roman" panose="02020603050405020304"/>
              </a:rPr>
              <a:t> </a:t>
            </a:r>
            <a:r>
              <a:rPr sz="2400" b="1" dirty="0">
                <a:solidFill>
                  <a:srgbClr val="4470C4"/>
                </a:solidFill>
                <a:latin typeface="Times New Roman" panose="02020603050405020304"/>
                <a:cs typeface="Times New Roman" panose="02020603050405020304"/>
              </a:rPr>
              <a:t>Detection</a:t>
            </a:r>
            <a:r>
              <a:rPr sz="2400" b="1" spc="-100" dirty="0">
                <a:solidFill>
                  <a:srgbClr val="4470C4"/>
                </a:solidFill>
                <a:latin typeface="Times New Roman" panose="02020603050405020304"/>
                <a:cs typeface="Times New Roman" panose="02020603050405020304"/>
              </a:rPr>
              <a:t> </a:t>
            </a:r>
            <a:r>
              <a:rPr sz="2400" b="1" spc="-10" dirty="0">
                <a:solidFill>
                  <a:srgbClr val="4470C4"/>
                </a:solidFill>
                <a:latin typeface="Times New Roman" panose="02020603050405020304"/>
                <a:cs typeface="Times New Roman" panose="02020603050405020304"/>
              </a:rPr>
              <a:t>on</a:t>
            </a:r>
            <a:r>
              <a:rPr sz="2400" b="1" spc="-175" dirty="0">
                <a:solidFill>
                  <a:srgbClr val="4470C4"/>
                </a:solidFill>
                <a:latin typeface="Times New Roman" panose="02020603050405020304"/>
                <a:cs typeface="Times New Roman" panose="02020603050405020304"/>
              </a:rPr>
              <a:t> </a:t>
            </a:r>
            <a:r>
              <a:rPr sz="2400" b="1" spc="-35" dirty="0">
                <a:solidFill>
                  <a:srgbClr val="4470C4"/>
                </a:solidFill>
                <a:latin typeface="Times New Roman" panose="02020603050405020304"/>
                <a:cs typeface="Times New Roman" panose="02020603050405020304"/>
              </a:rPr>
              <a:t>YouTub</a:t>
            </a:r>
            <a:r>
              <a:rPr lang="en-US" altLang="en-US" sz="2400" b="1" spc="-35" dirty="0">
                <a:solidFill>
                  <a:srgbClr val="4470C4"/>
                </a:solidFill>
                <a:latin typeface="Times New Roman" panose="02020603050405020304"/>
                <a:cs typeface="Times New Roman" panose="02020603050405020304"/>
              </a:rPr>
              <a:t>e</a:t>
            </a:r>
          </a:p>
          <a:p>
            <a:pPr marL="181610" marR="5080" indent="-169545">
              <a:lnSpc>
                <a:spcPct val="110000"/>
              </a:lnSpc>
              <a:spcBef>
                <a:spcPts val="100"/>
              </a:spcBef>
            </a:pPr>
            <a:endParaRPr sz="2400">
              <a:latin typeface="Times New Roman" panose="02020603050405020304"/>
              <a:cs typeface="Times New Roman" panose="02020603050405020304"/>
            </a:endParaRPr>
          </a:p>
        </p:txBody>
      </p:sp>
      <p:sp>
        <p:nvSpPr>
          <p:cNvPr id="8" name="object 8"/>
          <p:cNvSpPr txBox="1"/>
          <p:nvPr/>
        </p:nvSpPr>
        <p:spPr>
          <a:xfrm>
            <a:off x="3592195" y="4189730"/>
            <a:ext cx="3590925" cy="925830"/>
          </a:xfrm>
          <a:prstGeom prst="rect">
            <a:avLst/>
          </a:prstGeom>
        </p:spPr>
        <p:txBody>
          <a:bodyPr vert="horz" wrap="square" lIns="0" tIns="635" rIns="0" bIns="0" rtlCol="0">
            <a:noAutofit/>
          </a:bodyPr>
          <a:lstStyle/>
          <a:p>
            <a:pPr marL="153670" marR="5080" indent="-140970">
              <a:lnSpc>
                <a:spcPct val="93000"/>
              </a:lnSpc>
              <a:spcBef>
                <a:spcPts val="5"/>
              </a:spcBef>
              <a:tabLst>
                <a:tab pos="1310005" algn="l"/>
              </a:tabLst>
            </a:pPr>
            <a:r>
              <a:rPr sz="2400" b="1" dirty="0">
                <a:solidFill>
                  <a:srgbClr val="4470C4"/>
                </a:solidFill>
                <a:latin typeface="Times New Roman" panose="02020603050405020304"/>
                <a:cs typeface="Times New Roman" panose="02020603050405020304"/>
              </a:rPr>
              <a:t>:</a:t>
            </a:r>
            <a:r>
              <a:rPr sz="2400" b="1" spc="-100" dirty="0">
                <a:solidFill>
                  <a:srgbClr val="4470C4"/>
                </a:solidFill>
                <a:latin typeface="Times New Roman" panose="02020603050405020304"/>
                <a:cs typeface="Times New Roman" panose="02020603050405020304"/>
              </a:rPr>
              <a:t> </a:t>
            </a:r>
            <a:r>
              <a:rPr lang="en-US" altLang="en-US" sz="2400" b="1" spc="-100" dirty="0">
                <a:solidFill>
                  <a:srgbClr val="4470C4"/>
                </a:solidFill>
                <a:latin typeface="Times New Roman" panose="02020603050405020304"/>
                <a:cs typeface="Times New Roman" panose="02020603050405020304"/>
              </a:rPr>
              <a:t>Mr.</a:t>
            </a:r>
            <a:r>
              <a:rPr sz="2400" b="1" spc="-10" dirty="0">
                <a:solidFill>
                  <a:srgbClr val="4470C4"/>
                </a:solidFill>
                <a:latin typeface="Times New Roman" panose="02020603050405020304"/>
                <a:cs typeface="Times New Roman" panose="02020603050405020304"/>
              </a:rPr>
              <a:t>M.Vasu</a:t>
            </a:r>
            <a:r>
              <a:rPr sz="2400" b="1" dirty="0">
                <a:solidFill>
                  <a:srgbClr val="4470C4"/>
                </a:solidFill>
                <a:latin typeface="Times New Roman" panose="02020603050405020304"/>
                <a:cs typeface="Times New Roman" panose="02020603050405020304"/>
              </a:rPr>
              <a:t>	</a:t>
            </a:r>
            <a:r>
              <a:rPr sz="2400" b="1" spc="-25" dirty="0">
                <a:solidFill>
                  <a:srgbClr val="4470C4"/>
                </a:solidFill>
                <a:latin typeface="Times New Roman" panose="02020603050405020304"/>
                <a:cs typeface="Times New Roman" panose="02020603050405020304"/>
              </a:rPr>
              <a:t>MCA</a:t>
            </a:r>
            <a:r>
              <a:rPr lang="en-US" altLang="en-US" sz="2400" b="1" spc="-25" dirty="0">
                <a:solidFill>
                  <a:srgbClr val="4470C4"/>
                </a:solidFill>
                <a:latin typeface="Times New Roman" panose="02020603050405020304"/>
                <a:cs typeface="Times New Roman" panose="02020603050405020304"/>
              </a:rPr>
              <a:t>.,</a:t>
            </a:r>
          </a:p>
          <a:p>
            <a:pPr marL="153670" marR="5080" indent="-140970">
              <a:lnSpc>
                <a:spcPct val="93000"/>
              </a:lnSpc>
              <a:spcBef>
                <a:spcPts val="5"/>
              </a:spcBef>
              <a:tabLst>
                <a:tab pos="1310005" algn="l"/>
              </a:tabLst>
            </a:pPr>
            <a:r>
              <a:rPr sz="2400" b="1" spc="-25" dirty="0">
                <a:solidFill>
                  <a:srgbClr val="4470C4"/>
                </a:solidFill>
                <a:latin typeface="Times New Roman" panose="02020603050405020304"/>
                <a:cs typeface="Times New Roman" panose="02020603050405020304"/>
              </a:rPr>
              <a:t> </a:t>
            </a:r>
            <a:r>
              <a:rPr lang="en-US" altLang="en-US" sz="2400" b="1" spc="-25" dirty="0">
                <a:solidFill>
                  <a:srgbClr val="4470C4"/>
                </a:solidFill>
                <a:latin typeface="Times New Roman" panose="02020603050405020304"/>
                <a:cs typeface="Times New Roman" panose="02020603050405020304"/>
              </a:rPr>
              <a:t> </a:t>
            </a:r>
            <a:r>
              <a:rPr sz="2400" b="1" spc="-50" dirty="0">
                <a:solidFill>
                  <a:srgbClr val="4470C4"/>
                </a:solidFill>
                <a:latin typeface="Times New Roman" panose="02020603050405020304"/>
                <a:cs typeface="Times New Roman" panose="02020603050405020304"/>
              </a:rPr>
              <a:t>Assista</a:t>
            </a:r>
            <a:r>
              <a:rPr lang="en-US" altLang="en-US" sz="2400" b="1" spc="-50" dirty="0">
                <a:solidFill>
                  <a:srgbClr val="4470C4"/>
                </a:solidFill>
                <a:latin typeface="Times New Roman" panose="02020603050405020304"/>
                <a:cs typeface="Times New Roman" panose="02020603050405020304"/>
              </a:rPr>
              <a:t>nt</a:t>
            </a:r>
            <a:r>
              <a:rPr sz="2400" b="1" spc="-80" dirty="0">
                <a:solidFill>
                  <a:srgbClr val="4470C4"/>
                </a:solidFill>
                <a:latin typeface="Times New Roman" panose="02020603050405020304"/>
                <a:cs typeface="Times New Roman" panose="02020603050405020304"/>
              </a:rPr>
              <a:t> </a:t>
            </a:r>
            <a:r>
              <a:rPr lang="en-US" altLang="en-US" sz="2400" b="1" spc="-80" dirty="0">
                <a:solidFill>
                  <a:srgbClr val="4470C4"/>
                </a:solidFill>
                <a:latin typeface="Times New Roman" panose="02020603050405020304"/>
                <a:cs typeface="Times New Roman" panose="02020603050405020304"/>
              </a:rPr>
              <a:t>P</a:t>
            </a:r>
            <a:r>
              <a:rPr sz="2400" b="1" spc="-45" dirty="0">
                <a:solidFill>
                  <a:srgbClr val="4470C4"/>
                </a:solidFill>
                <a:latin typeface="Times New Roman" panose="02020603050405020304"/>
                <a:cs typeface="Times New Roman" panose="02020603050405020304"/>
              </a:rPr>
              <a:t>rofessor.</a:t>
            </a:r>
            <a:endParaRPr sz="2400">
              <a:latin typeface="Times New Roman" panose="02020603050405020304"/>
              <a:cs typeface="Times New Roman" panose="02020603050405020304"/>
            </a:endParaRPr>
          </a:p>
        </p:txBody>
      </p:sp>
      <p:sp>
        <p:nvSpPr>
          <p:cNvPr id="9" name="object 9"/>
          <p:cNvSpPr txBox="1"/>
          <p:nvPr/>
        </p:nvSpPr>
        <p:spPr>
          <a:xfrm>
            <a:off x="1524000" y="173304"/>
            <a:ext cx="5658230" cy="321242"/>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Calibri" panose="020F0502020204030204"/>
                <a:cs typeface="Calibri" panose="020F0502020204030204"/>
              </a:rPr>
              <a:t>MCA</a:t>
            </a:r>
            <a:r>
              <a:rPr sz="2000" b="1" spc="-80" dirty="0">
                <a:solidFill>
                  <a:srgbClr val="C00000"/>
                </a:solidFill>
                <a:latin typeface="Calibri" panose="020F0502020204030204"/>
                <a:cs typeface="Calibri" panose="020F0502020204030204"/>
              </a:rPr>
              <a:t> </a:t>
            </a:r>
            <a:r>
              <a:rPr sz="2000" b="1" dirty="0">
                <a:solidFill>
                  <a:srgbClr val="C00000"/>
                </a:solidFill>
                <a:latin typeface="Calibri" panose="020F0502020204030204"/>
                <a:cs typeface="Calibri" panose="020F0502020204030204"/>
              </a:rPr>
              <a:t>IV</a:t>
            </a:r>
            <a:r>
              <a:rPr sz="2000" b="1" spc="-70" dirty="0">
                <a:solidFill>
                  <a:srgbClr val="C00000"/>
                </a:solidFill>
                <a:latin typeface="Calibri" panose="020F0502020204030204"/>
                <a:cs typeface="Calibri" panose="020F0502020204030204"/>
              </a:rPr>
              <a:t> </a:t>
            </a:r>
            <a:r>
              <a:rPr sz="2000" b="1" spc="-10" dirty="0">
                <a:solidFill>
                  <a:srgbClr val="C00000"/>
                </a:solidFill>
                <a:latin typeface="Calibri" panose="020F0502020204030204"/>
                <a:cs typeface="Calibri" panose="020F0502020204030204"/>
              </a:rPr>
              <a:t>Semester</a:t>
            </a:r>
            <a:r>
              <a:rPr sz="2000" b="1" spc="-70" dirty="0">
                <a:solidFill>
                  <a:srgbClr val="C00000"/>
                </a:solidFill>
                <a:latin typeface="Calibri" panose="020F0502020204030204"/>
                <a:cs typeface="Calibri" panose="020F0502020204030204"/>
              </a:rPr>
              <a:t> </a:t>
            </a:r>
            <a:r>
              <a:rPr sz="2000" b="1" dirty="0">
                <a:solidFill>
                  <a:srgbClr val="C00000"/>
                </a:solidFill>
                <a:latin typeface="Calibri" panose="020F0502020204030204"/>
                <a:cs typeface="Calibri" panose="020F0502020204030204"/>
              </a:rPr>
              <a:t>Project</a:t>
            </a:r>
            <a:r>
              <a:rPr sz="2000" b="1" spc="-85" dirty="0">
                <a:solidFill>
                  <a:srgbClr val="C00000"/>
                </a:solidFill>
                <a:latin typeface="Calibri" panose="020F0502020204030204"/>
                <a:cs typeface="Calibri" panose="020F0502020204030204"/>
              </a:rPr>
              <a:t> </a:t>
            </a:r>
            <a:r>
              <a:rPr lang="en-US" sz="2000" b="1" spc="-85" dirty="0">
                <a:solidFill>
                  <a:srgbClr val="C00000"/>
                </a:solidFill>
                <a:latin typeface="Calibri" panose="020F0502020204030204"/>
                <a:cs typeface="Calibri" panose="020F0502020204030204"/>
              </a:rPr>
              <a:t>II</a:t>
            </a:r>
            <a:r>
              <a:rPr sz="2000" b="1" spc="-75" dirty="0">
                <a:solidFill>
                  <a:srgbClr val="C00000"/>
                </a:solidFill>
                <a:latin typeface="Calibri" panose="020F0502020204030204"/>
                <a:cs typeface="Calibri" panose="020F0502020204030204"/>
              </a:rPr>
              <a:t> </a:t>
            </a:r>
            <a:r>
              <a:rPr sz="2000" b="1" dirty="0">
                <a:solidFill>
                  <a:srgbClr val="C00000"/>
                </a:solidFill>
                <a:latin typeface="Calibri" panose="020F0502020204030204"/>
                <a:cs typeface="Calibri" panose="020F0502020204030204"/>
              </a:rPr>
              <a:t>Review</a:t>
            </a:r>
            <a:r>
              <a:rPr sz="2000" b="1" spc="-80" dirty="0">
                <a:solidFill>
                  <a:srgbClr val="C00000"/>
                </a:solidFill>
                <a:latin typeface="Calibri" panose="020F0502020204030204"/>
                <a:cs typeface="Calibri" panose="020F0502020204030204"/>
              </a:rPr>
              <a:t> </a:t>
            </a:r>
            <a:r>
              <a:rPr sz="2000" b="1" spc="-10" dirty="0">
                <a:solidFill>
                  <a:srgbClr val="C00000"/>
                </a:solidFill>
                <a:latin typeface="Calibri" panose="020F0502020204030204"/>
                <a:cs typeface="Calibri" panose="020F0502020204030204"/>
              </a:rPr>
              <a:t>Presentation</a:t>
            </a:r>
            <a:endParaRPr sz="2000" dirty="0">
              <a:latin typeface="Calibri" panose="020F0502020204030204"/>
              <a:cs typeface="Calibri" panose="020F0502020204030204"/>
            </a:endParaRPr>
          </a:p>
        </p:txBody>
      </p:sp>
      <p:sp>
        <p:nvSpPr>
          <p:cNvPr id="12" name="Text Box 11"/>
          <p:cNvSpPr txBox="1"/>
          <p:nvPr/>
        </p:nvSpPr>
        <p:spPr>
          <a:xfrm>
            <a:off x="533400" y="4002405"/>
            <a:ext cx="2616835" cy="728980"/>
          </a:xfrm>
          <a:prstGeom prst="rect">
            <a:avLst/>
          </a:prstGeom>
          <a:noFill/>
        </p:spPr>
        <p:txBody>
          <a:bodyPr wrap="square" rtlCol="0">
            <a:noAutofit/>
          </a:bodyPr>
          <a:lstStyle/>
          <a:p>
            <a:pPr marR="5080">
              <a:lnSpc>
                <a:spcPct val="100000"/>
              </a:lnSpc>
              <a:spcBef>
                <a:spcPts val="100"/>
              </a:spcBef>
            </a:pPr>
            <a:r>
              <a:rPr sz="3200" b="1" dirty="0">
                <a:solidFill>
                  <a:srgbClr val="4470C4"/>
                </a:solidFill>
                <a:latin typeface="Times New Roman" panose="02020603050405020304"/>
                <a:cs typeface="Times New Roman" panose="02020603050405020304"/>
                <a:sym typeface="+mn-ea"/>
              </a:rPr>
              <a:t>Guide</a:t>
            </a:r>
            <a:r>
              <a:rPr sz="3200" b="1" spc="-40" dirty="0">
                <a:solidFill>
                  <a:srgbClr val="4470C4"/>
                </a:solidFill>
                <a:latin typeface="Times New Roman" panose="02020603050405020304"/>
                <a:cs typeface="Times New Roman" panose="02020603050405020304"/>
                <a:sym typeface="+mn-ea"/>
              </a:rPr>
              <a:t> </a:t>
            </a:r>
            <a:r>
              <a:rPr sz="3200" b="1" spc="-20" dirty="0">
                <a:solidFill>
                  <a:srgbClr val="4470C4"/>
                </a:solidFill>
                <a:latin typeface="Times New Roman" panose="02020603050405020304"/>
                <a:cs typeface="Times New Roman" panose="02020603050405020304"/>
                <a:sym typeface="+mn-ea"/>
              </a:rPr>
              <a:t>Name</a:t>
            </a:r>
            <a:endParaRPr lang="en-US" sz="3200"/>
          </a:p>
        </p:txBody>
      </p:sp>
      <p:pic>
        <p:nvPicPr>
          <p:cNvPr id="7"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3594" y="89915"/>
            <a:ext cx="5970905" cy="501111"/>
          </a:xfrm>
          <a:prstGeom prst="rect">
            <a:avLst/>
          </a:prstGeom>
        </p:spPr>
        <p:txBody>
          <a:bodyPr vert="horz" wrap="square" lIns="0" tIns="53543" rIns="0" bIns="0" rtlCol="0">
            <a:spAutoFit/>
          </a:bodyPr>
          <a:lstStyle/>
          <a:p>
            <a:pPr marL="2459355">
              <a:lnSpc>
                <a:spcPct val="150000"/>
              </a:lnSpc>
              <a:spcBef>
                <a:spcPts val="95"/>
              </a:spcBef>
            </a:pPr>
            <a:r>
              <a:rPr sz="2200" spc="-10" dirty="0">
                <a:latin typeface="Times New Roman" panose="02020603050405020304" pitchFamily="18" charset="0"/>
                <a:cs typeface="Times New Roman" panose="02020603050405020304" pitchFamily="18" charset="0"/>
              </a:rPr>
              <a:t>Contents</a:t>
            </a:r>
            <a:endParaRPr sz="2200" dirty="0">
              <a:latin typeface="Times New Roman" panose="02020603050405020304" pitchFamily="18" charset="0"/>
              <a:cs typeface="Times New Roman" panose="02020603050405020304" pitchFamily="18" charset="0"/>
            </a:endParaRPr>
          </a:p>
        </p:txBody>
      </p:sp>
      <p:sp>
        <p:nvSpPr>
          <p:cNvPr id="5" name="Text Box 4"/>
          <p:cNvSpPr txBox="1"/>
          <p:nvPr/>
        </p:nvSpPr>
        <p:spPr>
          <a:xfrm>
            <a:off x="746125" y="697865"/>
            <a:ext cx="7363460" cy="5899150"/>
          </a:xfrm>
          <a:prstGeom prst="rect">
            <a:avLst/>
          </a:prstGeom>
          <a:noFill/>
        </p:spPr>
        <p:txBody>
          <a:bodyPr wrap="square" rtlCol="0" anchor="t">
            <a:noAutofit/>
          </a:bodyPr>
          <a:lstStyle/>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ABSTRACT</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INTRODUCTION</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PROBLEM STATEMENT </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EXISTING SYSTEM</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PROPOSED SYSTEM</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SOFTWARE REQUIREMENTS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HARDWARE REQUIREMENTS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MODULES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UML DIAGRAMS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SYSTEM TESTING</a:t>
            </a: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SCREEN SHOTS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CONCLUSION</a:t>
            </a:r>
          </a:p>
          <a:p>
            <a:pPr marL="342900" indent="-342900">
              <a:lnSpc>
                <a:spcPct val="150000"/>
              </a:lnSpc>
              <a:buSzPct val="100000"/>
              <a:buFont typeface="Wingdings" panose="05000000000000000000" charset="0"/>
              <a:buChar char="v"/>
            </a:pPr>
            <a:r>
              <a:rPr lang="en-US" sz="2000" b="1" dirty="0">
                <a:latin typeface="Times New Roman" panose="02020603050405020304" pitchFamily="18" charset="0"/>
                <a:cs typeface="Times New Roman" panose="02020603050405020304" pitchFamily="18" charset="0"/>
                <a:sym typeface="+mn-ea"/>
              </a:rPr>
              <a:t>REFERENCES</a:t>
            </a:r>
          </a:p>
        </p:txBody>
      </p:sp>
      <p:pic>
        <p:nvPicPr>
          <p:cNvPr id="2"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3110" y="1232170"/>
            <a:ext cx="8507095" cy="4749800"/>
          </a:xfrm>
          <a:prstGeom prst="rect">
            <a:avLst/>
          </a:prstGeom>
        </p:spPr>
        <p:txBody>
          <a:bodyPr vert="horz" wrap="square" lIns="0" tIns="29209" rIns="0" bIns="0" rtlCol="0">
            <a:spAutoFit/>
          </a:bodyPr>
          <a:lstStyle/>
          <a:p>
            <a:pPr marL="299720" marR="116205" indent="-287020" algn="just">
              <a:lnSpc>
                <a:spcPct val="150000"/>
              </a:lnSpc>
              <a:spcBef>
                <a:spcPts val="230"/>
              </a:spcBef>
              <a:buFont typeface="Wingdings" panose="05000000000000000000"/>
              <a:buChar char=""/>
              <a:tabLst>
                <a:tab pos="299720" algn="l"/>
              </a:tabLst>
            </a:pPr>
            <a:r>
              <a:rPr sz="200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he</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rise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YouTube</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affect</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user</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interaction</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poses</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security</a:t>
            </a:r>
            <a:r>
              <a:rPr sz="1800" spc="4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risk, </a:t>
            </a:r>
            <a:r>
              <a:rPr sz="1800" dirty="0">
                <a:latin typeface="Times New Roman" panose="02020603050405020304" pitchFamily="18" charset="0"/>
                <a:cs typeface="Times New Roman" panose="02020603050405020304" pitchFamily="18" charset="0"/>
              </a:rPr>
              <a:t>machine</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learning(ML)</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offers</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solution</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by</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automating</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7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detection.</a:t>
            </a:r>
            <a:endParaRPr sz="1800" dirty="0">
              <a:latin typeface="Times New Roman" panose="02020603050405020304" pitchFamily="18" charset="0"/>
              <a:cs typeface="Times New Roman" panose="02020603050405020304" pitchFamily="18" charset="0"/>
            </a:endParaRPr>
          </a:p>
          <a:p>
            <a:pPr marL="299720" marR="5080" indent="-287020" algn="just">
              <a:lnSpc>
                <a:spcPct val="150000"/>
              </a:lnSpc>
              <a:spcBef>
                <a:spcPts val="1655"/>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ML</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algo</a:t>
            </a:r>
            <a:r>
              <a:rPr sz="2000" dirty="0">
                <a:latin typeface="Times New Roman" panose="02020603050405020304" pitchFamily="18" charset="0"/>
                <a:cs typeface="Times New Roman" panose="02020603050405020304" pitchFamily="18" charset="0"/>
              </a:rPr>
              <a:t>rithms</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leverage</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their</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capacity</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9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analyze</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extensive</a:t>
            </a:r>
            <a:r>
              <a:rPr sz="2000" spc="1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data</a:t>
            </a:r>
            <a:r>
              <a:rPr sz="2000" spc="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patterns, </a:t>
            </a:r>
            <a:r>
              <a:rPr sz="2000" dirty="0">
                <a:latin typeface="Times New Roman" panose="02020603050405020304" pitchFamily="18" charset="0"/>
                <a:cs typeface="Times New Roman" panose="02020603050405020304" pitchFamily="18" charset="0"/>
              </a:rPr>
              <a:t>enabling</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them</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effectively</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differentiate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between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authentic</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comments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spam.</a:t>
            </a:r>
            <a:endParaRPr sz="2000" dirty="0">
              <a:latin typeface="Times New Roman" panose="02020603050405020304" pitchFamily="18" charset="0"/>
              <a:cs typeface="Times New Roman" panose="02020603050405020304" pitchFamily="18" charset="0"/>
            </a:endParaRPr>
          </a:p>
          <a:p>
            <a:pPr marL="299720" marR="756285" indent="-287020" algn="just">
              <a:lnSpc>
                <a:spcPct val="150000"/>
              </a:lnSpc>
              <a:spcBef>
                <a:spcPts val="1705"/>
              </a:spcBef>
              <a:buFont typeface="Wingdings" panose="05000000000000000000"/>
              <a:buChar char=""/>
              <a:tabLst>
                <a:tab pos="299720" algn="l"/>
              </a:tabLst>
            </a:pPr>
            <a:r>
              <a:rPr sz="2000" dirty="0">
                <a:latin typeface="Times New Roman" panose="02020603050405020304" pitchFamily="18" charset="0"/>
                <a:cs typeface="Times New Roman" panose="02020603050405020304" pitchFamily="18" charset="0"/>
              </a:rPr>
              <a:t>An</a:t>
            </a:r>
            <a:r>
              <a:rPr sz="2000" spc="3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established</a:t>
            </a:r>
            <a:r>
              <a:rPr sz="2000" spc="3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technique</a:t>
            </a:r>
            <a:r>
              <a:rPr sz="2000" spc="40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3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ML</a:t>
            </a:r>
            <a:r>
              <a:rPr sz="2000" spc="3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4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detecting</a:t>
            </a:r>
            <a:r>
              <a:rPr sz="2000" spc="3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spam</a:t>
            </a:r>
            <a:r>
              <a:rPr sz="2000" spc="3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comments</a:t>
            </a:r>
            <a:r>
              <a:rPr sz="2000" spc="4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39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Naive</a:t>
            </a:r>
            <a:r>
              <a:rPr sz="2000" spc="3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classification</a:t>
            </a:r>
            <a:r>
              <a:rPr sz="2000" spc="-10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algorithm.</a:t>
            </a:r>
            <a:endParaRPr sz="2000" dirty="0">
              <a:latin typeface="Times New Roman" panose="02020603050405020304" pitchFamily="18" charset="0"/>
              <a:cs typeface="Times New Roman" panose="02020603050405020304" pitchFamily="18" charset="0"/>
            </a:endParaRPr>
          </a:p>
          <a:p>
            <a:pPr marL="299720" marR="196215" indent="-287020" algn="just">
              <a:lnSpc>
                <a:spcPct val="150000"/>
              </a:lnSpc>
              <a:spcBef>
                <a:spcPts val="1715"/>
              </a:spcBef>
              <a:buFont typeface="Wingdings" panose="05000000000000000000"/>
              <a:buChar char=""/>
              <a:tabLst>
                <a:tab pos="299720" algn="l"/>
              </a:tabLst>
            </a:pPr>
            <a:r>
              <a:rPr sz="2000" dirty="0">
                <a:latin typeface="Times New Roman" panose="02020603050405020304" pitchFamily="18" charset="0"/>
                <a:cs typeface="Times New Roman" panose="02020603050405020304" pitchFamily="18" charset="0"/>
              </a:rPr>
              <a:t>By</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leveraging</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natural</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language</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processing</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(NLP)</a:t>
            </a:r>
            <a:r>
              <a:rPr sz="2000" spc="3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techniques,</a:t>
            </a:r>
            <a:r>
              <a:rPr sz="2000" spc="3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
            </a:r>
            <a:r>
              <a:rPr sz="2000" spc="3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analyze comment</a:t>
            </a:r>
            <a:r>
              <a:rPr sz="2000" spc="-3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patterns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extract</a:t>
            </a:r>
            <a:r>
              <a:rPr sz="2000" spc="-5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relevant</a:t>
            </a:r>
            <a:r>
              <a:rPr sz="2000" spc="-5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features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classify</a:t>
            </a:r>
            <a:r>
              <a:rPr sz="2000" spc="-4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comments</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4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spam </a:t>
            </a:r>
            <a:r>
              <a:rPr sz="2000" dirty="0">
                <a:latin typeface="Times New Roman" panose="02020603050405020304" pitchFamily="18" charset="0"/>
                <a:cs typeface="Times New Roman" panose="02020603050405020304" pitchFamily="18" charset="0"/>
              </a:rPr>
              <a:t>or</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legitimate</a:t>
            </a:r>
            <a:endParaRPr sz="20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1323594" y="89915"/>
            <a:ext cx="5970905" cy="500906"/>
          </a:xfrm>
          <a:prstGeom prst="rect">
            <a:avLst/>
          </a:prstGeom>
        </p:spPr>
        <p:txBody>
          <a:bodyPr vert="horz" wrap="square" lIns="0" tIns="53340" rIns="0" bIns="0" rtlCol="0">
            <a:spAutoFit/>
          </a:bodyPr>
          <a:lstStyle/>
          <a:p>
            <a:pPr marL="2397125">
              <a:lnSpc>
                <a:spcPct val="150000"/>
              </a:lnSpc>
              <a:spcBef>
                <a:spcPts val="95"/>
              </a:spcBef>
            </a:pPr>
            <a:r>
              <a:rPr sz="2200" spc="-10" dirty="0">
                <a:latin typeface="Times New Roman" panose="02020603050405020304" pitchFamily="18" charset="0"/>
                <a:cs typeface="Times New Roman" panose="02020603050405020304" pitchFamily="18" charset="0"/>
              </a:rPr>
              <a:t>ABSTRACT</a:t>
            </a:r>
            <a:endParaRPr sz="22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277495" y="1371600"/>
            <a:ext cx="8588375" cy="3774440"/>
          </a:xfrm>
          <a:prstGeom prst="rect">
            <a:avLst/>
          </a:prstGeom>
        </p:spPr>
        <p:txBody>
          <a:bodyPr vert="horz" wrap="square" lIns="0" tIns="13335" rIns="0" bIns="0" rtlCol="0">
            <a:noAutofit/>
          </a:bodyPr>
          <a:lstStyle/>
          <a:p>
            <a:pPr marL="333375" indent="-285750" algn="just">
              <a:spcBef>
                <a:spcPts val="105"/>
              </a:spcBef>
              <a:buFont typeface="Wingdings" panose="05000000000000000000"/>
              <a:buChar char=""/>
              <a:tabLst>
                <a:tab pos="333375" algn="l"/>
              </a:tabLst>
            </a:pPr>
            <a:r>
              <a:rPr sz="2000" dirty="0">
                <a:latin typeface="Times New Roman" panose="02020603050405020304" pitchFamily="18" charset="0"/>
                <a:cs typeface="Times New Roman" panose="02020603050405020304" pitchFamily="18" charset="0"/>
              </a:rPr>
              <a:t>S</a:t>
            </a:r>
            <a:r>
              <a:rPr dirty="0">
                <a:latin typeface="Times New Roman" panose="02020603050405020304" pitchFamily="18" charset="0"/>
                <a:cs typeface="Times New Roman" panose="02020603050405020304" pitchFamily="18" charset="0"/>
              </a:rPr>
              <a:t>o,</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by</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using</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concept</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called</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machine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learning</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can</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predict</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detect</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4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spam</a:t>
            </a:r>
            <a:r>
              <a:rPr sz="2000" spc="-10" dirty="0">
                <a:latin typeface="Times New Roman" panose="02020603050405020304" pitchFamily="18" charset="0"/>
                <a:cs typeface="Times New Roman" panose="02020603050405020304" pitchFamily="18" charset="0"/>
              </a:rPr>
              <a:t>.</a:t>
            </a:r>
          </a:p>
          <a:p>
            <a:pPr marL="333375" indent="-285750" algn="just">
              <a:spcBef>
                <a:spcPts val="105"/>
              </a:spcBef>
              <a:buFont typeface="Wingdings" panose="05000000000000000000"/>
              <a:buChar char=""/>
              <a:tabLst>
                <a:tab pos="333375" algn="l"/>
              </a:tabLst>
            </a:pPr>
            <a:endParaRPr sz="2000" dirty="0">
              <a:latin typeface="Times New Roman" panose="02020603050405020304" pitchFamily="18" charset="0"/>
              <a:cs typeface="Times New Roman" panose="02020603050405020304" pitchFamily="18" charset="0"/>
            </a:endParaRPr>
          </a:p>
          <a:p>
            <a:pPr marL="334010" marR="5080" indent="-287020" algn="just">
              <a:spcBef>
                <a:spcPts val="1490"/>
              </a:spcBef>
              <a:buFont typeface="Wingdings" panose="05000000000000000000"/>
              <a:buChar char=""/>
              <a:tabLst>
                <a:tab pos="334010" algn="l"/>
              </a:tabLst>
            </a:pPr>
            <a:r>
              <a:rPr sz="2000"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been</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detecting</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Naive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a:t>
            </a:r>
            <a:r>
              <a:rPr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which </a:t>
            </a:r>
            <a:r>
              <a:rPr sz="2000" dirty="0">
                <a:latin typeface="Times New Roman" panose="02020603050405020304" pitchFamily="18" charset="0"/>
                <a:cs typeface="Times New Roman" panose="02020603050405020304" pitchFamily="18" charset="0"/>
              </a:rPr>
              <a:t>predicts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comments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spam</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various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a:t>
            </a:r>
            <a:r>
              <a:rPr sz="2000" spc="-6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have </a:t>
            </a:r>
            <a:r>
              <a:rPr sz="2000" dirty="0">
                <a:latin typeface="Times New Roman" panose="02020603050405020304" pitchFamily="18" charset="0"/>
                <a:cs typeface="Times New Roman" panose="02020603050405020304" pitchFamily="18" charset="0"/>
              </a:rPr>
              <a:t>been</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used.</a:t>
            </a:r>
          </a:p>
          <a:p>
            <a:pPr marL="334010" marR="5080" indent="-287020" algn="just">
              <a:spcBef>
                <a:spcPts val="1490"/>
              </a:spcBef>
              <a:buFont typeface="Wingdings" panose="05000000000000000000"/>
              <a:buChar char=""/>
              <a:tabLst>
                <a:tab pos="334010" algn="l"/>
              </a:tabLst>
            </a:pPr>
            <a:endParaRPr sz="2000" dirty="0">
              <a:latin typeface="Times New Roman" panose="02020603050405020304" pitchFamily="18" charset="0"/>
              <a:cs typeface="Times New Roman" panose="02020603050405020304" pitchFamily="18" charset="0"/>
            </a:endParaRPr>
          </a:p>
          <a:p>
            <a:pPr marL="334010" marR="172085" indent="-286385" algn="just">
              <a:buFont typeface="Wingdings" panose="05000000000000000000"/>
              <a:buChar char=""/>
              <a:tabLst>
                <a:tab pos="334010" algn="l"/>
              </a:tabLst>
            </a:pPr>
            <a:r>
              <a:rPr sz="2000" dirty="0">
                <a:latin typeface="Times New Roman" panose="02020603050405020304" pitchFamily="18" charset="0"/>
                <a:cs typeface="Times New Roman" panose="02020603050405020304" pitchFamily="18" charset="0"/>
              </a:rPr>
              <a:t>For</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spam</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comment</a:t>
            </a:r>
            <a:r>
              <a:rPr sz="2000" spc="2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detection</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but</a:t>
            </a:r>
            <a:r>
              <a:rPr sz="2000" spc="25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however</a:t>
            </a:r>
            <a:r>
              <a:rPr sz="2000" spc="2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Naive</a:t>
            </a:r>
            <a:r>
              <a:rPr sz="2000" spc="2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best</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suitable</a:t>
            </a:r>
            <a:r>
              <a:rPr sz="2000" spc="2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229"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it </a:t>
            </a:r>
            <a:r>
              <a:rPr sz="2000" dirty="0">
                <a:latin typeface="Times New Roman" panose="02020603050405020304" pitchFamily="18" charset="0"/>
                <a:cs typeface="Times New Roman" panose="02020603050405020304" pitchFamily="18" charset="0"/>
              </a:rPr>
              <a:t>is</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faster</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compared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other</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perform</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better</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probabilistic calculations.</a:t>
            </a:r>
            <a:endParaRPr sz="20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1323594" y="89915"/>
            <a:ext cx="5970905" cy="500906"/>
          </a:xfrm>
          <a:prstGeom prst="rect">
            <a:avLst/>
          </a:prstGeom>
        </p:spPr>
        <p:txBody>
          <a:bodyPr vert="horz" wrap="square" lIns="0" tIns="53340" rIns="0" bIns="0" rtlCol="0">
            <a:spAutoFit/>
          </a:bodyPr>
          <a:lstStyle/>
          <a:p>
            <a:pPr marL="2084070">
              <a:lnSpc>
                <a:spcPct val="150000"/>
              </a:lnSpc>
              <a:spcBef>
                <a:spcPts val="95"/>
              </a:spcBef>
            </a:pPr>
            <a:r>
              <a:rPr sz="2200" spc="-10" dirty="0">
                <a:latin typeface="Times New Roman" panose="02020603050405020304" pitchFamily="18" charset="0"/>
                <a:cs typeface="Times New Roman" panose="02020603050405020304" pitchFamily="18" charset="0"/>
              </a:rPr>
              <a:t>INTRODUCTION</a:t>
            </a:r>
            <a:endParaRPr sz="22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747" y="1295400"/>
            <a:ext cx="8104505" cy="3723070"/>
          </a:xfrm>
          <a:prstGeom prst="rect">
            <a:avLst/>
          </a:prstGeom>
        </p:spPr>
        <p:txBody>
          <a:bodyPr vert="horz" wrap="square" lIns="0" tIns="12700" rIns="0" bIns="0" rtlCol="0">
            <a:spAutoFit/>
          </a:bodyPr>
          <a:lstStyle/>
          <a:p>
            <a:pPr marL="299720" marR="5080" indent="-287020" algn="just">
              <a:lnSpc>
                <a:spcPct val="150000"/>
              </a:lnSpc>
              <a:spcBef>
                <a:spcPts val="100"/>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The</a:t>
            </a:r>
            <a:r>
              <a:rPr sz="1800" spc="3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problem</a:t>
            </a:r>
            <a:r>
              <a:rPr sz="1800" spc="3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statement</a:t>
            </a:r>
            <a:r>
              <a:rPr sz="1800" spc="3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3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Machine</a:t>
            </a:r>
            <a:r>
              <a:rPr sz="1800" spc="3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Learning-</a:t>
            </a:r>
            <a:r>
              <a:rPr sz="1800" dirty="0">
                <a:latin typeface="Times New Roman" panose="02020603050405020304" pitchFamily="18" charset="0"/>
                <a:cs typeface="Times New Roman" panose="02020603050405020304" pitchFamily="18" charset="0"/>
              </a:rPr>
              <a:t>based</a:t>
            </a:r>
            <a:r>
              <a:rPr sz="1800" spc="3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3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3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3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on </a:t>
            </a:r>
            <a:r>
              <a:rPr sz="1800" dirty="0">
                <a:latin typeface="Times New Roman" panose="02020603050405020304" pitchFamily="18" charset="0"/>
                <a:cs typeface="Times New Roman" panose="02020603050405020304" pitchFamily="18" charset="0"/>
              </a:rPr>
              <a:t>YouTube</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develop</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predictive</a:t>
            </a:r>
            <a:r>
              <a:rPr sz="1800" spc="1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model</a:t>
            </a:r>
            <a:r>
              <a:rPr sz="1800" spc="1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that</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can</a:t>
            </a:r>
            <a:r>
              <a:rPr sz="1800" spc="1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classify</a:t>
            </a:r>
            <a:r>
              <a:rPr sz="1800" spc="1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YouTube</a:t>
            </a:r>
            <a:r>
              <a:rPr sz="1800" spc="1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15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as </a:t>
            </a:r>
            <a:r>
              <a:rPr sz="1800" dirty="0">
                <a:latin typeface="Times New Roman" panose="02020603050405020304" pitchFamily="18" charset="0"/>
                <a:cs typeface="Times New Roman" panose="02020603050405020304" pitchFamily="18" charset="0"/>
              </a:rPr>
              <a:t>either</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or</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not</a:t>
            </a:r>
            <a:r>
              <a:rPr sz="1800" spc="-4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spam.</a:t>
            </a:r>
            <a:endParaRPr sz="1800" dirty="0">
              <a:latin typeface="Times New Roman" panose="02020603050405020304" pitchFamily="18" charset="0"/>
              <a:cs typeface="Times New Roman" panose="02020603050405020304" pitchFamily="18" charset="0"/>
            </a:endParaRPr>
          </a:p>
          <a:p>
            <a:pPr marL="299720" marR="5080" indent="-287020" algn="just">
              <a:lnSpc>
                <a:spcPct val="150000"/>
              </a:lnSpc>
              <a:spcBef>
                <a:spcPts val="1695"/>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The</a:t>
            </a:r>
            <a:r>
              <a:rPr sz="1800" spc="1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model</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will</a:t>
            </a:r>
            <a:r>
              <a:rPr sz="1800" spc="1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analyze</a:t>
            </a:r>
            <a:r>
              <a:rPr sz="1800" spc="1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content</a:t>
            </a:r>
            <a:r>
              <a:rPr sz="1800" spc="1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characteristics</a:t>
            </a:r>
            <a:r>
              <a:rPr sz="1800" spc="1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utilizing</a:t>
            </a:r>
            <a:r>
              <a:rPr sz="1800" spc="17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ML </a:t>
            </a:r>
            <a:r>
              <a:rPr sz="1800" dirty="0">
                <a:latin typeface="Times New Roman" panose="02020603050405020304" pitchFamily="18" charset="0"/>
                <a:cs typeface="Times New Roman" panose="02020603050405020304" pitchFamily="18" charset="0"/>
              </a:rPr>
              <a:t>algorithms,</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automatically</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identify</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filter</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out</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6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comments.</a:t>
            </a:r>
            <a:endParaRPr sz="1800" dirty="0">
              <a:latin typeface="Times New Roman" panose="02020603050405020304" pitchFamily="18" charset="0"/>
              <a:cs typeface="Times New Roman" panose="02020603050405020304" pitchFamily="18" charset="0"/>
            </a:endParaRPr>
          </a:p>
          <a:p>
            <a:pPr marL="298450" marR="5080" indent="-285750" algn="just">
              <a:lnSpc>
                <a:spcPct val="150000"/>
              </a:lnSpc>
              <a:spcBef>
                <a:spcPts val="1700"/>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The</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objective</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create</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robust</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efficient</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that</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enhances</a:t>
            </a:r>
            <a:r>
              <a:rPr sz="1800" spc="9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user 	</a:t>
            </a:r>
            <a:r>
              <a:rPr sz="1800" dirty="0">
                <a:latin typeface="Times New Roman" panose="02020603050405020304" pitchFamily="18" charset="0"/>
                <a:cs typeface="Times New Roman" panose="02020603050405020304" pitchFamily="18" charset="0"/>
              </a:rPr>
              <a:t>experience,</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safeguards</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user</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privacy,</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reduces</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volume</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10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on 	</a:t>
            </a:r>
            <a:r>
              <a:rPr sz="1800" dirty="0">
                <a:latin typeface="Times New Roman" panose="02020603050405020304" pitchFamily="18" charset="0"/>
                <a:cs typeface="Times New Roman" panose="02020603050405020304" pitchFamily="18" charset="0"/>
              </a:rPr>
              <a:t>the</a:t>
            </a:r>
            <a:r>
              <a:rPr sz="1800" spc="-4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platform.</a:t>
            </a:r>
            <a:endParaRPr sz="18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1323594" y="89915"/>
            <a:ext cx="5970905" cy="500906"/>
          </a:xfrm>
          <a:prstGeom prst="rect">
            <a:avLst/>
          </a:prstGeom>
        </p:spPr>
        <p:txBody>
          <a:bodyPr vert="horz" wrap="square" lIns="0" tIns="53340" rIns="0" bIns="0" rtlCol="0">
            <a:spAutoFit/>
          </a:bodyPr>
          <a:lstStyle/>
          <a:p>
            <a:pPr marL="1708785">
              <a:lnSpc>
                <a:spcPct val="150000"/>
              </a:lnSpc>
              <a:spcBef>
                <a:spcPts val="95"/>
              </a:spcBef>
            </a:pPr>
            <a:r>
              <a:rPr sz="2200" spc="-20" dirty="0">
                <a:latin typeface="Times New Roman" panose="02020603050405020304" pitchFamily="18" charset="0"/>
                <a:cs typeface="Times New Roman" panose="02020603050405020304" pitchFamily="18" charset="0"/>
              </a:rPr>
              <a:t>PROBLEM</a:t>
            </a:r>
            <a:r>
              <a:rPr sz="2200" spc="-7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STATEMENT</a:t>
            </a:r>
            <a:endParaRPr sz="22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1494" y="1534795"/>
            <a:ext cx="8097520" cy="3805554"/>
          </a:xfrm>
          <a:prstGeom prst="rect">
            <a:avLst/>
          </a:prstGeom>
        </p:spPr>
        <p:txBody>
          <a:bodyPr vert="horz" wrap="square" lIns="0" tIns="12700" rIns="0" bIns="0" rtlCol="0">
            <a:spAutoFit/>
          </a:bodyPr>
          <a:lstStyle/>
          <a:p>
            <a:pPr marL="298450" indent="-285750" algn="just">
              <a:lnSpc>
                <a:spcPct val="100000"/>
              </a:lnSpc>
              <a:spcBef>
                <a:spcPts val="100"/>
              </a:spcBef>
              <a:buFont typeface="Wingdings" panose="05000000000000000000"/>
              <a:buChar char=""/>
              <a:tabLst>
                <a:tab pos="298450" algn="l"/>
              </a:tabLst>
            </a:pPr>
            <a:r>
              <a:rPr sz="1800" spc="-20" dirty="0">
                <a:latin typeface="Times New Roman" panose="02020603050405020304" pitchFamily="18" charset="0"/>
                <a:cs typeface="Times New Roman" panose="02020603050405020304" pitchFamily="18" charset="0"/>
              </a:rPr>
              <a:t>Researchers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have</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applied</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various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ML</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techniques</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detection.</a:t>
            </a:r>
            <a:endParaRPr sz="1800" dirty="0">
              <a:latin typeface="Times New Roman" panose="02020603050405020304" pitchFamily="18" charset="0"/>
              <a:cs typeface="Times New Roman" panose="02020603050405020304" pitchFamily="18" charset="0"/>
            </a:endParaRPr>
          </a:p>
          <a:p>
            <a:pPr marL="299720" marR="67310" indent="-287020" algn="just">
              <a:lnSpc>
                <a:spcPct val="150000"/>
              </a:lnSpc>
              <a:spcBef>
                <a:spcPts val="1515"/>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Popular</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approaches</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include</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Support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Vector</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Machines</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(SVM),</a:t>
            </a:r>
            <a:r>
              <a:rPr sz="1800" spc="4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k-</a:t>
            </a:r>
            <a:r>
              <a:rPr sz="1800" dirty="0">
                <a:latin typeface="Times New Roman" panose="02020603050405020304" pitchFamily="18" charset="0"/>
                <a:cs typeface="Times New Roman" panose="02020603050405020304" pitchFamily="18" charset="0"/>
              </a:rPr>
              <a:t>Nearest</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Neighbors </a:t>
            </a:r>
            <a:r>
              <a:rPr sz="1800" spc="-20" dirty="0">
                <a:latin typeface="Times New Roman" panose="02020603050405020304" pitchFamily="18" charset="0"/>
                <a:cs typeface="Times New Roman" panose="02020603050405020304" pitchFamily="18" charset="0"/>
              </a:rPr>
              <a:t>(k-</a:t>
            </a:r>
            <a:r>
              <a:rPr sz="1800" dirty="0">
                <a:latin typeface="Times New Roman" panose="02020603050405020304" pitchFamily="18" charset="0"/>
                <a:cs typeface="Times New Roman" panose="02020603050405020304" pitchFamily="18" charset="0"/>
              </a:rPr>
              <a:t>NN),</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Neural</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Networks.</a:t>
            </a:r>
            <a:endParaRPr sz="1800" dirty="0">
              <a:latin typeface="Times New Roman" panose="02020603050405020304" pitchFamily="18" charset="0"/>
              <a:cs typeface="Times New Roman" panose="02020603050405020304" pitchFamily="18" charset="0"/>
            </a:endParaRPr>
          </a:p>
          <a:p>
            <a:pPr marL="299720" marR="5080" indent="-287020" algn="just">
              <a:lnSpc>
                <a:spcPct val="150000"/>
              </a:lnSpc>
              <a:spcBef>
                <a:spcPts val="1705"/>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These</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methods</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assess</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probability</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being</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based</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4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its </a:t>
            </a:r>
            <a:r>
              <a:rPr sz="1800" spc="-10" dirty="0">
                <a:latin typeface="Times New Roman" panose="02020603050405020304" pitchFamily="18" charset="0"/>
                <a:cs typeface="Times New Roman" panose="02020603050405020304" pitchFamily="18" charset="0"/>
              </a:rPr>
              <a:t>attributes</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spam-</a:t>
            </a:r>
            <a:r>
              <a:rPr sz="1800" spc="-10" dirty="0">
                <a:latin typeface="Times New Roman" panose="02020603050405020304" pitchFamily="18" charset="0"/>
                <a:cs typeface="Times New Roman" panose="02020603050405020304" pitchFamily="18" charset="0"/>
              </a:rPr>
              <a:t>related</a:t>
            </a:r>
            <a:r>
              <a:rPr sz="1800" spc="-4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keywords.</a:t>
            </a:r>
            <a:endParaRPr sz="1800" dirty="0">
              <a:latin typeface="Times New Roman" panose="02020603050405020304" pitchFamily="18" charset="0"/>
              <a:cs typeface="Times New Roman" panose="02020603050405020304" pitchFamily="18" charset="0"/>
            </a:endParaRPr>
          </a:p>
          <a:p>
            <a:pPr marL="299720" marR="6985" indent="-287020" algn="just">
              <a:lnSpc>
                <a:spcPct val="150000"/>
              </a:lnSpc>
              <a:spcBef>
                <a:spcPts val="1705"/>
              </a:spcBef>
              <a:buFont typeface="Wingdings" panose="05000000000000000000"/>
              <a:buChar char=""/>
              <a:tabLst>
                <a:tab pos="299720" algn="l"/>
              </a:tabLst>
            </a:pPr>
            <a:r>
              <a:rPr sz="1800" dirty="0">
                <a:latin typeface="Times New Roman" panose="02020603050405020304" pitchFamily="18" charset="0"/>
                <a:cs typeface="Times New Roman" panose="02020603050405020304" pitchFamily="18" charset="0"/>
              </a:rPr>
              <a:t>The</a:t>
            </a:r>
            <a:r>
              <a:rPr sz="1800" spc="2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algorithm's</a:t>
            </a:r>
            <a:r>
              <a:rPr sz="1800" spc="20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simplicity</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efficiency</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make</a:t>
            </a:r>
            <a:r>
              <a:rPr sz="1800" spc="2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a:t>
            </a:r>
            <a:r>
              <a:rPr sz="1800" spc="2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2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popular</a:t>
            </a:r>
            <a:r>
              <a:rPr sz="1800" spc="2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choice</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2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classifying </a:t>
            </a:r>
            <a:r>
              <a:rPr sz="1800" dirty="0">
                <a:latin typeface="Times New Roman" panose="02020603050405020304" pitchFamily="18" charset="0"/>
                <a:cs typeface="Times New Roman" panose="02020603050405020304" pitchFamily="18" charset="0"/>
              </a:rPr>
              <a:t>comments</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distinguishing</a:t>
            </a:r>
            <a:r>
              <a:rPr sz="1800" spc="1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between</a:t>
            </a:r>
            <a:r>
              <a:rPr sz="1800" spc="1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16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non-</a:t>
            </a:r>
            <a:r>
              <a:rPr sz="1800" dirty="0">
                <a:latin typeface="Times New Roman" panose="02020603050405020304" pitchFamily="18" charset="0"/>
                <a:cs typeface="Times New Roman" panose="02020603050405020304" pitchFamily="18" charset="0"/>
              </a:rPr>
              <a:t>spam</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with</a:t>
            </a:r>
            <a:r>
              <a:rPr sz="1800" spc="16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satisfactory accuracy.</a:t>
            </a:r>
            <a:endParaRPr sz="18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1323594" y="89915"/>
            <a:ext cx="5970905" cy="467564"/>
          </a:xfrm>
          <a:prstGeom prst="rect">
            <a:avLst/>
          </a:prstGeom>
        </p:spPr>
        <p:txBody>
          <a:bodyPr vert="horz" wrap="square" lIns="0" tIns="12065" rIns="0" bIns="0" rtlCol="0">
            <a:spAutoFit/>
          </a:bodyPr>
          <a:lstStyle/>
          <a:p>
            <a:pPr marL="1974850" algn="just">
              <a:lnSpc>
                <a:spcPct val="150000"/>
              </a:lnSpc>
              <a:spcBef>
                <a:spcPts val="95"/>
              </a:spcBef>
            </a:pPr>
            <a:r>
              <a:rPr sz="2200" spc="-20" dirty="0">
                <a:latin typeface="Times New Roman" panose="02020603050405020304" pitchFamily="18" charset="0"/>
                <a:cs typeface="Times New Roman" panose="02020603050405020304" pitchFamily="18" charset="0"/>
              </a:rPr>
              <a:t>EXISTING</a:t>
            </a:r>
            <a:r>
              <a:rPr sz="2200" spc="-4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SYSTEM</a:t>
            </a:r>
            <a:endParaRPr sz="22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308" y="1006982"/>
            <a:ext cx="2016125" cy="377924"/>
          </a:xfrm>
          <a:prstGeom prst="rect">
            <a:avLst/>
          </a:prstGeom>
        </p:spPr>
        <p:txBody>
          <a:bodyPr vert="horz" wrap="square" lIns="0" tIns="12065" rIns="0" bIns="0" rtlCol="0">
            <a:spAutoFit/>
          </a:bodyPr>
          <a:lstStyle/>
          <a:p>
            <a:pPr marL="12700">
              <a:lnSpc>
                <a:spcPct val="150000"/>
              </a:lnSpc>
              <a:spcBef>
                <a:spcPts val="95"/>
              </a:spcBef>
            </a:pPr>
            <a:r>
              <a:rPr lang="en-US" sz="1800" u="heavy" spc="-45" dirty="0">
                <a:solidFill>
                  <a:srgbClr val="000000"/>
                </a:solidFill>
                <a:uFill>
                  <a:solidFill>
                    <a:srgbClr val="000000"/>
                  </a:solidFill>
                </a:uFill>
                <a:latin typeface="Times New Roman" panose="02020603050405020304" pitchFamily="18" charset="0"/>
                <a:cs typeface="Times New Roman" panose="02020603050405020304" pitchFamily="18" charset="0"/>
              </a:rPr>
              <a:t>DISADVANTAGES:</a:t>
            </a:r>
            <a:endParaRPr sz="1800" u="heavy" spc="-45" dirty="0">
              <a:solidFill>
                <a:srgbClr val="000000"/>
              </a:solidFill>
              <a:uFill>
                <a:solidFill>
                  <a:srgbClr val="000000"/>
                </a:solidFill>
              </a:uFill>
              <a:latin typeface="Times New Roman" panose="02020603050405020304" pitchFamily="18" charset="0"/>
              <a:cs typeface="Times New Roman" panose="02020603050405020304" pitchFamily="18" charset="0"/>
            </a:endParaRPr>
          </a:p>
        </p:txBody>
      </p:sp>
      <p:sp>
        <p:nvSpPr>
          <p:cNvPr id="3" name="object 3"/>
          <p:cNvSpPr txBox="1"/>
          <p:nvPr/>
        </p:nvSpPr>
        <p:spPr>
          <a:xfrm>
            <a:off x="285672" y="1662276"/>
            <a:ext cx="8705927" cy="3637342"/>
          </a:xfrm>
          <a:prstGeom prst="rect">
            <a:avLst/>
          </a:prstGeom>
        </p:spPr>
        <p:txBody>
          <a:bodyPr vert="horz" wrap="square" lIns="0" tIns="12065" rIns="0" bIns="0" rtlCol="0">
            <a:spAutoFit/>
          </a:bodyPr>
          <a:lstStyle/>
          <a:p>
            <a:pPr marL="355600" marR="577215" indent="-342900" algn="just">
              <a:lnSpc>
                <a:spcPct val="150000"/>
              </a:lnSpc>
              <a:spcBef>
                <a:spcPts val="95"/>
              </a:spcBef>
              <a:buFont typeface="Wingdings" panose="05000000000000000000"/>
              <a:buChar char=""/>
              <a:tabLst>
                <a:tab pos="355600" algn="l"/>
              </a:tabLst>
            </a:pPr>
            <a:r>
              <a:rPr sz="2000" b="1" spc="-25" dirty="0">
                <a:latin typeface="Times New Roman" panose="02020603050405020304" pitchFamily="18" charset="0"/>
                <a:cs typeface="Times New Roman" panose="02020603050405020304" pitchFamily="18" charset="0"/>
              </a:rPr>
              <a:t>Independence</a:t>
            </a:r>
            <a:r>
              <a:rPr sz="2000" b="1" spc="-9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Assumption</a:t>
            </a:r>
            <a:r>
              <a:rPr sz="2000" b="1" spc="-8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t>
            </a:r>
            <a:r>
              <a:rPr sz="2000" dirty="0">
                <a:latin typeface="Times New Roman" panose="02020603050405020304" pitchFamily="18" charset="0"/>
                <a:cs typeface="Times New Roman" panose="02020603050405020304" pitchFamily="18" charset="0"/>
              </a:rPr>
              <a:t>Naive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assumes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words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comment</a:t>
            </a:r>
            <a:r>
              <a:rPr sz="2000" spc="-5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are </a:t>
            </a:r>
            <a:r>
              <a:rPr sz="2000" spc="-10" dirty="0">
                <a:latin typeface="Times New Roman" panose="02020603050405020304" pitchFamily="18" charset="0"/>
                <a:cs typeface="Times New Roman" panose="02020603050405020304" pitchFamily="18" charset="0"/>
              </a:rPr>
              <a:t>independent,</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reducing</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accuracy.</a:t>
            </a:r>
            <a:endParaRPr sz="2000" dirty="0">
              <a:latin typeface="Times New Roman" panose="02020603050405020304" pitchFamily="18" charset="0"/>
              <a:cs typeface="Times New Roman" panose="02020603050405020304" pitchFamily="18" charset="0"/>
            </a:endParaRPr>
          </a:p>
          <a:p>
            <a:pPr marL="355600" marR="5080" indent="-342900" algn="just">
              <a:lnSpc>
                <a:spcPct val="150000"/>
              </a:lnSpc>
              <a:spcBef>
                <a:spcPts val="1695"/>
              </a:spcBef>
              <a:buFont typeface="Wingdings" panose="05000000000000000000"/>
              <a:buChar char=""/>
              <a:tabLst>
                <a:tab pos="355600" algn="l"/>
              </a:tabLst>
            </a:pPr>
            <a:r>
              <a:rPr sz="2000" b="1" dirty="0">
                <a:latin typeface="Times New Roman" panose="02020603050405020304" pitchFamily="18" charset="0"/>
                <a:cs typeface="Times New Roman" panose="02020603050405020304" pitchFamily="18" charset="0"/>
              </a:rPr>
              <a:t>Handling</a:t>
            </a:r>
            <a:r>
              <a:rPr sz="2000" b="1" spc="-10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New</a:t>
            </a:r>
            <a:r>
              <a:rPr sz="2000" b="1" spc="-70" dirty="0">
                <a:latin typeface="Times New Roman" panose="02020603050405020304" pitchFamily="18" charset="0"/>
                <a:cs typeface="Times New Roman" panose="02020603050405020304" pitchFamily="18" charset="0"/>
              </a:rPr>
              <a:t> </a:t>
            </a:r>
            <a:r>
              <a:rPr sz="2000" b="1" spc="-25" dirty="0">
                <a:latin typeface="Times New Roman" panose="02020603050405020304" pitchFamily="18" charset="0"/>
                <a:cs typeface="Times New Roman" panose="02020603050405020304" pitchFamily="18" charset="0"/>
              </a:rPr>
              <a:t>Words</a:t>
            </a:r>
            <a:r>
              <a:rPr sz="2000" b="1" spc="-8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a:t>
            </a:r>
            <a:r>
              <a:rPr sz="2000" spc="-10" dirty="0">
                <a:latin typeface="Times New Roman" panose="02020603050405020304" pitchFamily="18" charset="0"/>
                <a:cs typeface="Times New Roman" panose="02020603050405020304" pitchFamily="18" charset="0"/>
              </a:rPr>
              <a:t>Struggles</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unseen</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words,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leading</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misclassification. </a:t>
            </a:r>
            <a:r>
              <a:rPr sz="2000" dirty="0">
                <a:latin typeface="Times New Roman" panose="02020603050405020304" pitchFamily="18" charset="0"/>
                <a:cs typeface="Times New Roman" panose="02020603050405020304" pitchFamily="18" charset="0"/>
              </a:rPr>
              <a:t>Naive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relies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occurrence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specific</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words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phrases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training data.</a:t>
            </a:r>
            <a:endParaRPr sz="2000" dirty="0">
              <a:latin typeface="Times New Roman" panose="02020603050405020304" pitchFamily="18" charset="0"/>
              <a:cs typeface="Times New Roman" panose="02020603050405020304" pitchFamily="18" charset="0"/>
            </a:endParaRPr>
          </a:p>
          <a:p>
            <a:pPr marL="299720" marR="385445" indent="-286385" algn="just">
              <a:lnSpc>
                <a:spcPct val="150000"/>
              </a:lnSpc>
              <a:spcBef>
                <a:spcPts val="1800"/>
              </a:spcBef>
              <a:buFont typeface="Wingdings" panose="05000000000000000000"/>
              <a:buChar char=""/>
              <a:tabLst>
                <a:tab pos="299720" algn="l"/>
                <a:tab pos="354965" algn="l"/>
              </a:tabLst>
            </a:pPr>
            <a:r>
              <a:rPr sz="200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Feature</a:t>
            </a:r>
            <a:r>
              <a:rPr sz="2000" b="1" spc="-6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Sensitivity</a:t>
            </a:r>
            <a:r>
              <a:rPr sz="2000" b="1" spc="-6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t>
            </a:r>
            <a:r>
              <a:rPr sz="2000" dirty="0">
                <a:latin typeface="Times New Roman" panose="02020603050405020304" pitchFamily="18" charset="0"/>
                <a:cs typeface="Times New Roman" panose="02020603050405020304" pitchFamily="18" charset="0"/>
              </a:rPr>
              <a:t>The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performance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Naive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Bayes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heavily</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depends</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5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choice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quality</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features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classification.</a:t>
            </a:r>
            <a:endParaRPr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707542" y="263474"/>
            <a:ext cx="287020" cy="360045"/>
          </a:xfrm>
          <a:prstGeom prst="rect">
            <a:avLst/>
          </a:prstGeom>
        </p:spPr>
        <p:txBody>
          <a:bodyPr vert="horz" wrap="square" lIns="0" tIns="12065" rIns="0" bIns="0" rtlCol="0">
            <a:spAutoFit/>
          </a:bodyPr>
          <a:lstStyle/>
          <a:p>
            <a:pPr marL="12700">
              <a:lnSpc>
                <a:spcPct val="100000"/>
              </a:lnSpc>
              <a:spcBef>
                <a:spcPts val="95"/>
              </a:spcBef>
            </a:pPr>
            <a:r>
              <a:rPr sz="2200" b="1" spc="-25" dirty="0">
                <a:solidFill>
                  <a:srgbClr val="C00000"/>
                </a:solidFill>
                <a:latin typeface="Calibri" panose="020F0502020204030204"/>
                <a:cs typeface="Calibri" panose="020F0502020204030204"/>
              </a:rPr>
              <a:t>vg</a:t>
            </a:r>
            <a:endParaRPr sz="2200">
              <a:latin typeface="Calibri" panose="020F0502020204030204"/>
              <a:cs typeface="Calibri" panose="020F0502020204030204"/>
            </a:endParaRPr>
          </a:p>
        </p:txBody>
      </p:sp>
      <p:pic>
        <p:nvPicPr>
          <p:cNvPr id="6"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2765" y="1290955"/>
            <a:ext cx="8075295" cy="4652645"/>
          </a:xfrm>
          <a:prstGeom prst="rect">
            <a:avLst/>
          </a:prstGeom>
        </p:spPr>
        <p:txBody>
          <a:bodyPr vert="horz" wrap="square" lIns="0" tIns="26670" rIns="0" bIns="0" rtlCol="0">
            <a:noAutofit/>
          </a:bodyPr>
          <a:lstStyle/>
          <a:p>
            <a:pPr marL="299085" marR="5080" indent="-287020" algn="just">
              <a:lnSpc>
                <a:spcPct val="150000"/>
              </a:lnSpc>
              <a:spcBef>
                <a:spcPts val="210"/>
              </a:spcBef>
              <a:buFont typeface="Wingdings" panose="05000000000000000000"/>
              <a:buChar char=""/>
              <a:tabLst>
                <a:tab pos="299085" algn="l"/>
              </a:tabLst>
            </a:pPr>
            <a:r>
              <a:rPr sz="1800" dirty="0">
                <a:latin typeface="Times New Roman" panose="02020603050405020304" pitchFamily="18" charset="0"/>
                <a:cs typeface="Times New Roman" panose="02020603050405020304" pitchFamily="18" charset="0"/>
              </a:rPr>
              <a:t>The</a:t>
            </a:r>
            <a:r>
              <a:rPr sz="1800" spc="1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proposed</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aims</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enhance</a:t>
            </a:r>
            <a:r>
              <a:rPr sz="1800" spc="1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accuracy</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14"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10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a:t>
            </a:r>
            <a:r>
              <a:rPr sz="1800" spc="1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1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on </a:t>
            </a:r>
            <a:r>
              <a:rPr sz="1800" spc="-35" dirty="0">
                <a:latin typeface="Times New Roman" panose="02020603050405020304" pitchFamily="18" charset="0"/>
                <a:cs typeface="Times New Roman" panose="02020603050405020304" pitchFamily="18" charset="0"/>
              </a:rPr>
              <a:t>YouTube</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by</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implementing</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combination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advanced</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ML</a:t>
            </a:r>
            <a:r>
              <a:rPr sz="1800" spc="-10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algorithms</a:t>
            </a:r>
            <a:endParaRPr lang="en-US" sz="1800" spc="-10" dirty="0">
              <a:latin typeface="Times New Roman" panose="02020603050405020304" pitchFamily="18" charset="0"/>
              <a:cs typeface="Times New Roman" panose="02020603050405020304" pitchFamily="18" charset="0"/>
            </a:endParaRPr>
          </a:p>
          <a:p>
            <a:pPr marL="299085" marR="5080" indent="-287020" algn="just">
              <a:lnSpc>
                <a:spcPct val="150000"/>
              </a:lnSpc>
              <a:spcBef>
                <a:spcPts val="210"/>
              </a:spcBef>
              <a:buFont typeface="Wingdings" panose="05000000000000000000"/>
              <a:buChar char=""/>
              <a:tabLst>
                <a:tab pos="299085" algn="l"/>
              </a:tabLst>
            </a:pPr>
            <a:endParaRPr sz="1800" dirty="0">
              <a:latin typeface="Times New Roman" panose="02020603050405020304" pitchFamily="18" charset="0"/>
              <a:cs typeface="Times New Roman" panose="02020603050405020304" pitchFamily="18" charset="0"/>
            </a:endParaRPr>
          </a:p>
          <a:p>
            <a:pPr marL="298450" marR="8255" indent="-285750" algn="just">
              <a:lnSpc>
                <a:spcPct val="150000"/>
              </a:lnSpc>
              <a:buFont typeface="Wingdings" panose="05000000000000000000"/>
              <a:buChar char=""/>
              <a:tabLst>
                <a:tab pos="298450" algn="l"/>
              </a:tabLst>
            </a:pPr>
            <a:r>
              <a:rPr sz="1800" spc="90" dirty="0">
                <a:latin typeface="Times New Roman" panose="02020603050405020304" pitchFamily="18" charset="0"/>
                <a:cs typeface="Times New Roman" panose="02020603050405020304" pitchFamily="18" charset="0"/>
              </a:rPr>
              <a:t>Implementing</a:t>
            </a:r>
            <a:r>
              <a:rPr sz="1800" spc="229"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23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combination</a:t>
            </a:r>
            <a:r>
              <a:rPr sz="1800" spc="24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of</a:t>
            </a:r>
            <a:r>
              <a:rPr sz="1800" spc="24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advanced</a:t>
            </a:r>
            <a:r>
              <a:rPr sz="1800" spc="2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ML</a:t>
            </a:r>
            <a:r>
              <a:rPr sz="1800" spc="245" dirty="0">
                <a:latin typeface="Times New Roman" panose="02020603050405020304" pitchFamily="18" charset="0"/>
                <a:cs typeface="Times New Roman" panose="02020603050405020304" pitchFamily="18" charset="0"/>
              </a:rPr>
              <a:t> </a:t>
            </a:r>
            <a:r>
              <a:rPr sz="1800" spc="95" dirty="0">
                <a:latin typeface="Times New Roman" panose="02020603050405020304" pitchFamily="18" charset="0"/>
                <a:cs typeface="Times New Roman" panose="02020603050405020304" pitchFamily="18" charset="0"/>
              </a:rPr>
              <a:t>algorithms,</a:t>
            </a:r>
            <a:r>
              <a:rPr sz="1800" spc="245" dirty="0">
                <a:latin typeface="Times New Roman" panose="02020603050405020304" pitchFamily="18" charset="0"/>
                <a:cs typeface="Times New Roman" panose="02020603050405020304" pitchFamily="18" charset="0"/>
              </a:rPr>
              <a:t> </a:t>
            </a:r>
            <a:r>
              <a:rPr sz="1800" spc="95" dirty="0">
                <a:latin typeface="Times New Roman" panose="02020603050405020304" pitchFamily="18" charset="0"/>
                <a:cs typeface="Times New Roman" panose="02020603050405020304" pitchFamily="18" charset="0"/>
              </a:rPr>
              <a:t>including</a:t>
            </a:r>
            <a:r>
              <a:rPr sz="1800" spc="240"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Navie </a:t>
            </a:r>
            <a:r>
              <a:rPr sz="1800" dirty="0">
                <a:latin typeface="Times New Roman" panose="02020603050405020304" pitchFamily="18" charset="0"/>
                <a:cs typeface="Times New Roman" panose="02020603050405020304" pitchFamily="18" charset="0"/>
              </a:rPr>
              <a:t>bayes</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,Decision</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Tree,</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MLP</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Classifier,</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AdaBoost</a:t>
            </a:r>
            <a:endParaRPr sz="1800" dirty="0">
              <a:latin typeface="Times New Roman" panose="02020603050405020304" pitchFamily="18" charset="0"/>
              <a:cs typeface="Times New Roman" panose="02020603050405020304" pitchFamily="18" charset="0"/>
            </a:endParaRPr>
          </a:p>
          <a:p>
            <a:pPr marL="299085" marR="5080" indent="-287020" algn="just">
              <a:lnSpc>
                <a:spcPct val="150000"/>
              </a:lnSpc>
              <a:spcBef>
                <a:spcPts val="1695"/>
              </a:spcBef>
              <a:buFont typeface="Wingdings" panose="05000000000000000000"/>
              <a:buChar char=""/>
              <a:tabLst>
                <a:tab pos="299085" algn="l"/>
              </a:tabLst>
            </a:pPr>
            <a:r>
              <a:rPr sz="1800" dirty="0">
                <a:latin typeface="Times New Roman" panose="02020603050405020304" pitchFamily="18" charset="0"/>
                <a:cs typeface="Times New Roman" panose="02020603050405020304" pitchFamily="18" charset="0"/>
              </a:rPr>
              <a:t>By</a:t>
            </a:r>
            <a:r>
              <a:rPr sz="1800" spc="195"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leveraging</a:t>
            </a:r>
            <a:r>
              <a:rPr sz="1800" spc="21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the</a:t>
            </a:r>
            <a:r>
              <a:rPr sz="1800" spc="204"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strengths</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200"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these</a:t>
            </a:r>
            <a:r>
              <a:rPr sz="1800" spc="20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algorithms,</a:t>
            </a:r>
            <a:r>
              <a:rPr sz="1800" spc="210" dirty="0">
                <a:latin typeface="Times New Roman" panose="02020603050405020304" pitchFamily="18" charset="0"/>
                <a:cs typeface="Times New Roman" panose="02020603050405020304" pitchFamily="18" charset="0"/>
              </a:rPr>
              <a:t>  </a:t>
            </a:r>
            <a:r>
              <a:rPr sz="1800" spc="55" dirty="0">
                <a:latin typeface="Times New Roman" panose="02020603050405020304" pitchFamily="18" charset="0"/>
                <a:cs typeface="Times New Roman" panose="02020603050405020304" pitchFamily="18" charset="0"/>
              </a:rPr>
              <a:t>the</a:t>
            </a:r>
            <a:r>
              <a:rPr sz="1800" spc="215"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system</a:t>
            </a:r>
            <a:r>
              <a:rPr sz="1800" spc="195" dirty="0">
                <a:latin typeface="Times New Roman" panose="02020603050405020304" pitchFamily="18" charset="0"/>
                <a:cs typeface="Times New Roman" panose="02020603050405020304" pitchFamily="18" charset="0"/>
              </a:rPr>
              <a:t>  </a:t>
            </a:r>
            <a:r>
              <a:rPr sz="1800" spc="65" dirty="0">
                <a:latin typeface="Times New Roman" panose="02020603050405020304" pitchFamily="18" charset="0"/>
                <a:cs typeface="Times New Roman" panose="02020603050405020304" pitchFamily="18" charset="0"/>
              </a:rPr>
              <a:t>seeks</a:t>
            </a:r>
            <a:r>
              <a:rPr sz="1800" spc="204"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to </a:t>
            </a:r>
            <a:r>
              <a:rPr sz="1800" spc="70" dirty="0">
                <a:latin typeface="Times New Roman" panose="02020603050405020304" pitchFamily="18" charset="0"/>
                <a:cs typeface="Times New Roman" panose="02020603050405020304" pitchFamily="18" charset="0"/>
              </a:rPr>
              <a:t>overcome</a:t>
            </a:r>
            <a:r>
              <a:rPr sz="1800" spc="409"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the</a:t>
            </a:r>
            <a:r>
              <a:rPr sz="1800" spc="405"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limitations</a:t>
            </a:r>
            <a:r>
              <a:rPr sz="1800" spc="4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425" dirty="0">
                <a:latin typeface="Times New Roman" panose="02020603050405020304" pitchFamily="18" charset="0"/>
                <a:cs typeface="Times New Roman" panose="02020603050405020304" pitchFamily="18" charset="0"/>
              </a:rPr>
              <a:t> </a:t>
            </a:r>
            <a:r>
              <a:rPr sz="1800" spc="55" dirty="0">
                <a:latin typeface="Times New Roman" panose="02020603050405020304" pitchFamily="18" charset="0"/>
                <a:cs typeface="Times New Roman" panose="02020603050405020304" pitchFamily="18" charset="0"/>
              </a:rPr>
              <a:t>the</a:t>
            </a:r>
            <a:r>
              <a:rPr sz="1800" spc="420" dirty="0">
                <a:latin typeface="Times New Roman" panose="02020603050405020304" pitchFamily="18" charset="0"/>
                <a:cs typeface="Times New Roman" panose="02020603050405020304" pitchFamily="18" charset="0"/>
              </a:rPr>
              <a:t> </a:t>
            </a:r>
            <a:r>
              <a:rPr sz="1800" spc="65" dirty="0">
                <a:latin typeface="Times New Roman" panose="02020603050405020304" pitchFamily="18" charset="0"/>
                <a:cs typeface="Times New Roman" panose="02020603050405020304" pitchFamily="18" charset="0"/>
              </a:rPr>
              <a:t>Naive</a:t>
            </a:r>
            <a:r>
              <a:rPr sz="1800" spc="434" dirty="0">
                <a:latin typeface="Times New Roman" panose="02020603050405020304" pitchFamily="18" charset="0"/>
                <a:cs typeface="Times New Roman" panose="02020603050405020304" pitchFamily="18" charset="0"/>
              </a:rPr>
              <a:t> </a:t>
            </a:r>
            <a:r>
              <a:rPr sz="1800" spc="65" dirty="0">
                <a:latin typeface="Times New Roman" panose="02020603050405020304" pitchFamily="18" charset="0"/>
                <a:cs typeface="Times New Roman" panose="02020603050405020304" pitchFamily="18" charset="0"/>
              </a:rPr>
              <a:t>Bayes</a:t>
            </a:r>
            <a:r>
              <a:rPr sz="1800" spc="415"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approach</a:t>
            </a:r>
            <a:r>
              <a:rPr sz="1800" spc="440" dirty="0">
                <a:latin typeface="Times New Roman" panose="02020603050405020304" pitchFamily="18" charset="0"/>
                <a:cs typeface="Times New Roman" panose="02020603050405020304" pitchFamily="18" charset="0"/>
              </a:rPr>
              <a:t> </a:t>
            </a:r>
            <a:r>
              <a:rPr sz="1800" spc="55" dirty="0">
                <a:latin typeface="Times New Roman" panose="02020603050405020304" pitchFamily="18" charset="0"/>
                <a:cs typeface="Times New Roman" panose="02020603050405020304" pitchFamily="18" charset="0"/>
              </a:rPr>
              <a:t>and</a:t>
            </a:r>
            <a:r>
              <a:rPr sz="1800" spc="440"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achieve</a:t>
            </a:r>
            <a:r>
              <a:rPr sz="1800" spc="415"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better </a:t>
            </a:r>
            <a:r>
              <a:rPr sz="1800" dirty="0">
                <a:latin typeface="Times New Roman" panose="02020603050405020304" pitchFamily="18" charset="0"/>
                <a:cs typeface="Times New Roman" panose="02020603050405020304" pitchFamily="18" charset="0"/>
              </a:rPr>
              <a:t>performance</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distinguishing</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between</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non-</a:t>
            </a:r>
            <a:r>
              <a:rPr sz="1800" dirty="0">
                <a:latin typeface="Times New Roman" panose="02020603050405020304" pitchFamily="18" charset="0"/>
                <a:cs typeface="Times New Roman" panose="02020603050405020304" pitchFamily="18" charset="0"/>
              </a:rPr>
              <a:t>spam</a:t>
            </a:r>
            <a:r>
              <a:rPr sz="1800" spc="-7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comments.</a:t>
            </a:r>
            <a:endParaRPr sz="1800" dirty="0">
              <a:latin typeface="Times New Roman" panose="02020603050405020304" pitchFamily="18" charset="0"/>
              <a:cs typeface="Times New Roman" panose="02020603050405020304" pitchFamily="18" charset="0"/>
            </a:endParaRPr>
          </a:p>
          <a:p>
            <a:pPr marL="299085" marR="6350" indent="-287020" algn="just">
              <a:lnSpc>
                <a:spcPct val="150000"/>
              </a:lnSpc>
              <a:spcBef>
                <a:spcPts val="1770"/>
              </a:spcBef>
              <a:buSzPct val="111000"/>
              <a:buFont typeface="Wingdings" panose="05000000000000000000"/>
              <a:buChar char=""/>
              <a:tabLst>
                <a:tab pos="299085" algn="l"/>
                <a:tab pos="363220" algn="l"/>
              </a:tabLst>
            </a:pPr>
            <a:r>
              <a:rPr sz="1800" dirty="0">
                <a:latin typeface="Times New Roman" panose="02020603050405020304" pitchFamily="18" charset="0"/>
                <a:cs typeface="Times New Roman" panose="02020603050405020304" pitchFamily="18" charset="0"/>
              </a:rPr>
              <a:t>	Effectively</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distinguishes</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from</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authentic</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comments,</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reducing</a:t>
            </a:r>
            <a:r>
              <a:rPr sz="1800" spc="9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fraudulent </a:t>
            </a:r>
            <a:r>
              <a:rPr sz="1800" dirty="0">
                <a:latin typeface="Times New Roman" panose="02020603050405020304" pitchFamily="18" charset="0"/>
                <a:cs typeface="Times New Roman" panose="02020603050405020304" pitchFamily="18" charset="0"/>
              </a:rPr>
              <a:t>activities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privacy</a:t>
            </a:r>
            <a:r>
              <a:rPr sz="1800" spc="-7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violations.</a:t>
            </a:r>
            <a:endParaRPr sz="18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1323594" y="89915"/>
            <a:ext cx="5970905" cy="459228"/>
          </a:xfrm>
          <a:prstGeom prst="rect">
            <a:avLst/>
          </a:prstGeom>
        </p:spPr>
        <p:txBody>
          <a:bodyPr vert="horz" wrap="square" lIns="0" tIns="12065" rIns="0" bIns="0" rtlCol="0">
            <a:spAutoFit/>
          </a:bodyPr>
          <a:lstStyle/>
          <a:p>
            <a:pPr marL="1873250">
              <a:lnSpc>
                <a:spcPct val="150000"/>
              </a:lnSpc>
              <a:spcBef>
                <a:spcPts val="95"/>
              </a:spcBef>
            </a:pPr>
            <a:r>
              <a:rPr sz="2200" spc="-20" dirty="0">
                <a:latin typeface="Times New Roman" panose="02020603050405020304" pitchFamily="18" charset="0"/>
                <a:cs typeface="Times New Roman" panose="02020603050405020304" pitchFamily="18" charset="0"/>
              </a:rPr>
              <a:t>PROPOSED</a:t>
            </a:r>
            <a:r>
              <a:rPr sz="2200" spc="-5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SYSTEM</a:t>
            </a:r>
            <a:endParaRPr sz="2200" dirty="0">
              <a:latin typeface="Times New Roman" panose="02020603050405020304" pitchFamily="18" charset="0"/>
              <a:cs typeface="Times New Roman" panose="02020603050405020304" pitchFamily="18" charset="0"/>
            </a:endParaRPr>
          </a:p>
        </p:txBody>
      </p:sp>
      <p:sp>
        <p:nvSpPr>
          <p:cNvPr id="5" name="object 5"/>
          <p:cNvSpPr/>
          <p:nvPr/>
        </p:nvSpPr>
        <p:spPr>
          <a:xfrm>
            <a:off x="5929503" y="2343404"/>
            <a:ext cx="45720" cy="53340"/>
          </a:xfrm>
          <a:custGeom>
            <a:avLst/>
            <a:gdLst/>
            <a:ahLst/>
            <a:cxnLst/>
            <a:rect l="l" t="t" r="r" b="b"/>
            <a:pathLst>
              <a:path w="45720" h="53339">
                <a:moveTo>
                  <a:pt x="19050" y="8800"/>
                </a:moveTo>
                <a:lnTo>
                  <a:pt x="11925" y="7569"/>
                </a:lnTo>
                <a:lnTo>
                  <a:pt x="0" y="7569"/>
                </a:lnTo>
                <a:lnTo>
                  <a:pt x="0" y="0"/>
                </a:lnTo>
                <a:lnTo>
                  <a:pt x="12926" y="0"/>
                </a:lnTo>
                <a:lnTo>
                  <a:pt x="23507" y="1828"/>
                </a:lnTo>
                <a:lnTo>
                  <a:pt x="24752" y="2286"/>
                </a:lnTo>
                <a:lnTo>
                  <a:pt x="25768" y="3136"/>
                </a:lnTo>
                <a:lnTo>
                  <a:pt x="26441" y="4279"/>
                </a:lnTo>
                <a:lnTo>
                  <a:pt x="26670" y="5588"/>
                </a:lnTo>
                <a:lnTo>
                  <a:pt x="19050" y="5588"/>
                </a:lnTo>
                <a:lnTo>
                  <a:pt x="19050" y="8800"/>
                </a:lnTo>
                <a:close/>
              </a:path>
              <a:path w="45720" h="53339">
                <a:moveTo>
                  <a:pt x="22212" y="9347"/>
                </a:moveTo>
                <a:lnTo>
                  <a:pt x="19050" y="8800"/>
                </a:lnTo>
                <a:lnTo>
                  <a:pt x="19050" y="5588"/>
                </a:lnTo>
                <a:lnTo>
                  <a:pt x="22212" y="9347"/>
                </a:lnTo>
                <a:close/>
              </a:path>
              <a:path w="45720" h="53339">
                <a:moveTo>
                  <a:pt x="26670" y="9347"/>
                </a:moveTo>
                <a:lnTo>
                  <a:pt x="22212" y="9347"/>
                </a:lnTo>
                <a:lnTo>
                  <a:pt x="19050" y="5588"/>
                </a:lnTo>
                <a:lnTo>
                  <a:pt x="26670" y="5588"/>
                </a:lnTo>
                <a:lnTo>
                  <a:pt x="26670" y="9347"/>
                </a:lnTo>
                <a:close/>
              </a:path>
              <a:path w="45720" h="53339">
                <a:moveTo>
                  <a:pt x="25894" y="29370"/>
                </a:moveTo>
                <a:lnTo>
                  <a:pt x="19050" y="25019"/>
                </a:lnTo>
                <a:lnTo>
                  <a:pt x="19050" y="8800"/>
                </a:lnTo>
                <a:lnTo>
                  <a:pt x="22212" y="9347"/>
                </a:lnTo>
                <a:lnTo>
                  <a:pt x="26670" y="9347"/>
                </a:lnTo>
                <a:lnTo>
                  <a:pt x="26670" y="21259"/>
                </a:lnTo>
                <a:lnTo>
                  <a:pt x="23469" y="21259"/>
                </a:lnTo>
                <a:lnTo>
                  <a:pt x="25727" y="23912"/>
                </a:lnTo>
                <a:lnTo>
                  <a:pt x="25849" y="24054"/>
                </a:lnTo>
                <a:lnTo>
                  <a:pt x="22199" y="24688"/>
                </a:lnTo>
                <a:lnTo>
                  <a:pt x="21300" y="25019"/>
                </a:lnTo>
                <a:lnTo>
                  <a:pt x="21106" y="25019"/>
                </a:lnTo>
                <a:lnTo>
                  <a:pt x="19938" y="25996"/>
                </a:lnTo>
                <a:lnTo>
                  <a:pt x="19740" y="26339"/>
                </a:lnTo>
                <a:lnTo>
                  <a:pt x="45720" y="26339"/>
                </a:lnTo>
                <a:lnTo>
                  <a:pt x="45720" y="28333"/>
                </a:lnTo>
                <a:lnTo>
                  <a:pt x="26766" y="28333"/>
                </a:lnTo>
                <a:lnTo>
                  <a:pt x="25894" y="29370"/>
                </a:lnTo>
                <a:close/>
              </a:path>
              <a:path w="45720" h="53339">
                <a:moveTo>
                  <a:pt x="25849" y="24054"/>
                </a:moveTo>
                <a:lnTo>
                  <a:pt x="23469" y="21259"/>
                </a:lnTo>
                <a:lnTo>
                  <a:pt x="26670" y="21779"/>
                </a:lnTo>
                <a:lnTo>
                  <a:pt x="26670" y="23912"/>
                </a:lnTo>
                <a:lnTo>
                  <a:pt x="25849" y="24054"/>
                </a:lnTo>
                <a:close/>
              </a:path>
              <a:path w="45720" h="53339">
                <a:moveTo>
                  <a:pt x="26670" y="21779"/>
                </a:moveTo>
                <a:lnTo>
                  <a:pt x="23469" y="21259"/>
                </a:lnTo>
                <a:lnTo>
                  <a:pt x="26670" y="21259"/>
                </a:lnTo>
                <a:lnTo>
                  <a:pt x="26670" y="21779"/>
                </a:lnTo>
                <a:close/>
              </a:path>
              <a:path w="45720" h="53339">
                <a:moveTo>
                  <a:pt x="26670" y="23912"/>
                </a:moveTo>
                <a:lnTo>
                  <a:pt x="26670" y="21779"/>
                </a:lnTo>
                <a:lnTo>
                  <a:pt x="33316" y="22860"/>
                </a:lnTo>
                <a:lnTo>
                  <a:pt x="32725" y="22860"/>
                </a:lnTo>
                <a:lnTo>
                  <a:pt x="26670" y="23912"/>
                </a:lnTo>
                <a:close/>
              </a:path>
              <a:path w="45720" h="53339">
                <a:moveTo>
                  <a:pt x="19050" y="44633"/>
                </a:moveTo>
                <a:lnTo>
                  <a:pt x="19069" y="28333"/>
                </a:lnTo>
                <a:lnTo>
                  <a:pt x="19218" y="27482"/>
                </a:lnTo>
                <a:lnTo>
                  <a:pt x="19278" y="27139"/>
                </a:lnTo>
                <a:lnTo>
                  <a:pt x="19938" y="25996"/>
                </a:lnTo>
                <a:lnTo>
                  <a:pt x="21106" y="25019"/>
                </a:lnTo>
                <a:lnTo>
                  <a:pt x="26670" y="25019"/>
                </a:lnTo>
                <a:lnTo>
                  <a:pt x="26670" y="23912"/>
                </a:lnTo>
                <a:lnTo>
                  <a:pt x="32725" y="22860"/>
                </a:lnTo>
                <a:lnTo>
                  <a:pt x="45720" y="22860"/>
                </a:lnTo>
                <a:lnTo>
                  <a:pt x="45720" y="26339"/>
                </a:lnTo>
                <a:lnTo>
                  <a:pt x="19278" y="26339"/>
                </a:lnTo>
                <a:lnTo>
                  <a:pt x="19951" y="27482"/>
                </a:lnTo>
                <a:lnTo>
                  <a:pt x="20993" y="28333"/>
                </a:lnTo>
                <a:lnTo>
                  <a:pt x="22250" y="28778"/>
                </a:lnTo>
                <a:lnTo>
                  <a:pt x="25894" y="29370"/>
                </a:lnTo>
                <a:lnTo>
                  <a:pt x="23520" y="32194"/>
                </a:lnTo>
                <a:lnTo>
                  <a:pt x="26670" y="32194"/>
                </a:lnTo>
                <a:lnTo>
                  <a:pt x="26670" y="44119"/>
                </a:lnTo>
                <a:lnTo>
                  <a:pt x="22250" y="44119"/>
                </a:lnTo>
                <a:lnTo>
                  <a:pt x="19050" y="44633"/>
                </a:lnTo>
                <a:close/>
              </a:path>
              <a:path w="45720" h="53339">
                <a:moveTo>
                  <a:pt x="26670" y="25019"/>
                </a:moveTo>
                <a:lnTo>
                  <a:pt x="25849" y="24054"/>
                </a:lnTo>
                <a:lnTo>
                  <a:pt x="26670" y="23912"/>
                </a:lnTo>
                <a:lnTo>
                  <a:pt x="26670" y="25019"/>
                </a:lnTo>
                <a:close/>
              </a:path>
              <a:path w="45720" h="53339">
                <a:moveTo>
                  <a:pt x="26670" y="25019"/>
                </a:moveTo>
                <a:lnTo>
                  <a:pt x="21300" y="25019"/>
                </a:lnTo>
                <a:lnTo>
                  <a:pt x="22199" y="24688"/>
                </a:lnTo>
                <a:lnTo>
                  <a:pt x="25849" y="24054"/>
                </a:lnTo>
                <a:lnTo>
                  <a:pt x="26670" y="25019"/>
                </a:lnTo>
                <a:close/>
              </a:path>
              <a:path w="45720" h="53339">
                <a:moveTo>
                  <a:pt x="23520" y="32194"/>
                </a:moveTo>
                <a:lnTo>
                  <a:pt x="26766" y="28333"/>
                </a:lnTo>
                <a:lnTo>
                  <a:pt x="26670" y="31647"/>
                </a:lnTo>
                <a:lnTo>
                  <a:pt x="23520" y="32194"/>
                </a:lnTo>
                <a:close/>
              </a:path>
              <a:path w="45720" h="53339">
                <a:moveTo>
                  <a:pt x="45720" y="29370"/>
                </a:moveTo>
                <a:lnTo>
                  <a:pt x="26670" y="29370"/>
                </a:lnTo>
                <a:lnTo>
                  <a:pt x="26670" y="28333"/>
                </a:lnTo>
                <a:lnTo>
                  <a:pt x="45720" y="28333"/>
                </a:lnTo>
                <a:lnTo>
                  <a:pt x="45720" y="29370"/>
                </a:lnTo>
                <a:close/>
              </a:path>
              <a:path w="45720" h="53339">
                <a:moveTo>
                  <a:pt x="26670" y="31647"/>
                </a:moveTo>
                <a:lnTo>
                  <a:pt x="26670" y="29370"/>
                </a:lnTo>
                <a:lnTo>
                  <a:pt x="25894" y="29370"/>
                </a:lnTo>
                <a:lnTo>
                  <a:pt x="32410" y="30429"/>
                </a:lnTo>
                <a:lnTo>
                  <a:pt x="33680" y="30429"/>
                </a:lnTo>
                <a:lnTo>
                  <a:pt x="26670" y="31647"/>
                </a:lnTo>
                <a:close/>
              </a:path>
              <a:path w="45720" h="53339">
                <a:moveTo>
                  <a:pt x="45720" y="30429"/>
                </a:moveTo>
                <a:lnTo>
                  <a:pt x="32410" y="30429"/>
                </a:lnTo>
                <a:lnTo>
                  <a:pt x="25894" y="29370"/>
                </a:lnTo>
                <a:lnTo>
                  <a:pt x="45720" y="29370"/>
                </a:lnTo>
                <a:lnTo>
                  <a:pt x="45720" y="30429"/>
                </a:lnTo>
                <a:close/>
              </a:path>
              <a:path w="45720" h="53339">
                <a:moveTo>
                  <a:pt x="26670" y="32194"/>
                </a:moveTo>
                <a:lnTo>
                  <a:pt x="23520" y="32194"/>
                </a:lnTo>
                <a:lnTo>
                  <a:pt x="26670" y="31647"/>
                </a:lnTo>
                <a:lnTo>
                  <a:pt x="26670" y="32194"/>
                </a:lnTo>
                <a:close/>
              </a:path>
              <a:path w="45720" h="53339">
                <a:moveTo>
                  <a:pt x="19050" y="47879"/>
                </a:moveTo>
                <a:lnTo>
                  <a:pt x="19050" y="44633"/>
                </a:lnTo>
                <a:lnTo>
                  <a:pt x="22250" y="44119"/>
                </a:lnTo>
                <a:lnTo>
                  <a:pt x="19050" y="47879"/>
                </a:lnTo>
                <a:close/>
              </a:path>
              <a:path w="45720" h="53339">
                <a:moveTo>
                  <a:pt x="26670" y="47879"/>
                </a:moveTo>
                <a:lnTo>
                  <a:pt x="19050" y="47879"/>
                </a:lnTo>
                <a:lnTo>
                  <a:pt x="22250" y="44119"/>
                </a:lnTo>
                <a:lnTo>
                  <a:pt x="26670" y="44119"/>
                </a:lnTo>
                <a:lnTo>
                  <a:pt x="26670" y="47879"/>
                </a:lnTo>
                <a:close/>
              </a:path>
              <a:path w="45720" h="53339">
                <a:moveTo>
                  <a:pt x="13182" y="53289"/>
                </a:moveTo>
                <a:lnTo>
                  <a:pt x="0" y="53289"/>
                </a:lnTo>
                <a:lnTo>
                  <a:pt x="0" y="45720"/>
                </a:lnTo>
                <a:lnTo>
                  <a:pt x="12279" y="45720"/>
                </a:lnTo>
                <a:lnTo>
                  <a:pt x="19050" y="44633"/>
                </a:lnTo>
                <a:lnTo>
                  <a:pt x="19050" y="47879"/>
                </a:lnTo>
                <a:lnTo>
                  <a:pt x="26670" y="47879"/>
                </a:lnTo>
                <a:lnTo>
                  <a:pt x="26428" y="49199"/>
                </a:lnTo>
                <a:lnTo>
                  <a:pt x="25755" y="50355"/>
                </a:lnTo>
                <a:lnTo>
                  <a:pt x="24726" y="51206"/>
                </a:lnTo>
                <a:lnTo>
                  <a:pt x="23469" y="51638"/>
                </a:lnTo>
                <a:lnTo>
                  <a:pt x="13182" y="53289"/>
                </a:lnTo>
                <a:close/>
              </a:path>
            </a:pathLst>
          </a:custGeom>
          <a:solidFill>
            <a:srgbClr val="4470C4"/>
          </a:solidFill>
        </p:spPr>
        <p:txBody>
          <a:bodyPr wrap="square" lIns="0" tIns="0" rIns="0" bIns="0" rtlCol="0"/>
          <a:lstStyle/>
          <a:p>
            <a:endParaRPr/>
          </a:p>
        </p:txBody>
      </p:sp>
      <p:pic>
        <p:nvPicPr>
          <p:cNvPr id="6"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420" y="1182370"/>
            <a:ext cx="8818880" cy="4030980"/>
          </a:xfrm>
          <a:prstGeom prst="rect">
            <a:avLst/>
          </a:prstGeom>
        </p:spPr>
        <p:txBody>
          <a:bodyPr vert="horz" wrap="square" lIns="0" tIns="12065" rIns="0" bIns="0" rtlCol="0">
            <a:noAutofit/>
          </a:bodyPr>
          <a:lstStyle/>
          <a:p>
            <a:pPr marL="358775" algn="just">
              <a:lnSpc>
                <a:spcPct val="150000"/>
              </a:lnSpc>
              <a:spcBef>
                <a:spcPts val="95"/>
              </a:spcBef>
            </a:pPr>
            <a:r>
              <a:rPr sz="2000" b="1" u="sng" spc="-10" dirty="0">
                <a:latin typeface="Times New Roman" panose="02020603050405020304" pitchFamily="18" charset="0"/>
                <a:cs typeface="Times New Roman" panose="02020603050405020304" pitchFamily="18" charset="0"/>
              </a:rPr>
              <a:t>ADVANTAGES:</a:t>
            </a:r>
            <a:endParaRPr sz="2000" u="sng" dirty="0">
              <a:latin typeface="Times New Roman" panose="02020603050405020304" pitchFamily="18" charset="0"/>
              <a:cs typeface="Times New Roman" panose="02020603050405020304" pitchFamily="18" charset="0"/>
            </a:endParaRPr>
          </a:p>
          <a:p>
            <a:pPr marL="299720" marR="5080" indent="-287020" algn="just">
              <a:lnSpc>
                <a:spcPct val="150000"/>
              </a:lnSpc>
              <a:spcBef>
                <a:spcPts val="1650"/>
              </a:spcBef>
              <a:buFont typeface="Wingdings" panose="05000000000000000000"/>
              <a:buChar char=""/>
              <a:tabLst>
                <a:tab pos="299720" algn="l"/>
                <a:tab pos="350520" algn="l"/>
              </a:tabLst>
            </a:pPr>
            <a:r>
              <a:rPr sz="1800" dirty="0">
                <a:latin typeface="Times New Roman" panose="02020603050405020304"/>
                <a:cs typeface="Times New Roman" panose="02020603050405020304"/>
              </a:rPr>
              <a:t>	</a:t>
            </a:r>
            <a:r>
              <a:rPr sz="1800" b="1" dirty="0">
                <a:latin typeface="Times New Roman" panose="02020603050405020304" pitchFamily="18" charset="0"/>
                <a:cs typeface="Times New Roman" panose="02020603050405020304" pitchFamily="18" charset="0"/>
              </a:rPr>
              <a:t>Enhanced</a:t>
            </a:r>
            <a:r>
              <a:rPr sz="1800" b="1" spc="-9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Accuracy</a:t>
            </a:r>
            <a:r>
              <a:rPr sz="1800" b="1" spc="-10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t>
            </a:r>
            <a:r>
              <a:rPr sz="1800" b="1"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Multiple</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algorithms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capture</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diverse</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7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patterns.</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This</a:t>
            </a:r>
            <a:r>
              <a:rPr sz="1800" spc="-7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improvement </a:t>
            </a:r>
            <a:r>
              <a:rPr sz="1800" dirty="0">
                <a:latin typeface="Times New Roman" panose="02020603050405020304" pitchFamily="18" charset="0"/>
                <a:cs typeface="Times New Roman" panose="02020603050405020304" pitchFamily="18" charset="0"/>
              </a:rPr>
              <a:t>over</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traditional</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Naive</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Bayes</a:t>
            </a:r>
            <a:r>
              <a:rPr sz="1800" spc="-9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approach</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ensures</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more</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reliable</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detection</a:t>
            </a:r>
            <a:r>
              <a:rPr sz="1800" spc="-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system.</a:t>
            </a:r>
            <a:endParaRPr sz="1800" dirty="0">
              <a:latin typeface="Times New Roman" panose="02020603050405020304" pitchFamily="18" charset="0"/>
              <a:cs typeface="Times New Roman" panose="02020603050405020304" pitchFamily="18" charset="0"/>
            </a:endParaRPr>
          </a:p>
          <a:p>
            <a:pPr marL="299720" marR="753110" indent="-287020" algn="just">
              <a:lnSpc>
                <a:spcPct val="150000"/>
              </a:lnSpc>
              <a:spcBef>
                <a:spcPts val="1705"/>
              </a:spcBef>
              <a:buFont typeface="Wingdings" panose="05000000000000000000"/>
              <a:buChar char=""/>
              <a:tabLst>
                <a:tab pos="299720" algn="l"/>
                <a:tab pos="350520" algn="l"/>
              </a:tabLst>
            </a:pPr>
            <a:r>
              <a:rPr sz="180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Robustness</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35" dirty="0">
                <a:latin typeface="Times New Roman" panose="02020603050405020304" pitchFamily="18" charset="0"/>
                <a:cs typeface="Times New Roman" panose="02020603050405020304" pitchFamily="18" charset="0"/>
              </a:rPr>
              <a:t> </a:t>
            </a:r>
            <a:r>
              <a:rPr sz="1800" b="1" spc="-20" dirty="0">
                <a:latin typeface="Times New Roman" panose="02020603050405020304" pitchFamily="18" charset="0"/>
                <a:cs typeface="Times New Roman" panose="02020603050405020304" pitchFamily="18" charset="0"/>
              </a:rPr>
              <a:t>Generalization</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t>
            </a:r>
            <a:r>
              <a:rPr sz="1800" b="1"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Each</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algorithm</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brings</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its</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unique</a:t>
            </a:r>
            <a:r>
              <a:rPr sz="1800" spc="-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strengths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3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the </a:t>
            </a:r>
            <a:r>
              <a:rPr sz="1800" dirty="0">
                <a:latin typeface="Times New Roman" panose="02020603050405020304" pitchFamily="18" charset="0"/>
                <a:cs typeface="Times New Roman" panose="02020603050405020304" pitchFamily="18" charset="0"/>
              </a:rPr>
              <a:t>ensemble,</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increasing</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7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system's</a:t>
            </a:r>
            <a:r>
              <a:rPr sz="1800" spc="-9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robustness</a:t>
            </a:r>
            <a:r>
              <a:rPr sz="1800" spc="-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ability</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8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generalize</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well</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new</a:t>
            </a:r>
            <a:r>
              <a:rPr sz="1800" spc="-7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and </a:t>
            </a:r>
            <a:r>
              <a:rPr sz="1800" dirty="0">
                <a:latin typeface="Times New Roman" panose="02020603050405020304" pitchFamily="18" charset="0"/>
                <a:cs typeface="Times New Roman" panose="02020603050405020304" pitchFamily="18" charset="0"/>
              </a:rPr>
              <a:t>unseen</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data.</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Reduces</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overfitting,</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adapts</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new</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spam</a:t>
            </a:r>
            <a:r>
              <a:rPr sz="1800" spc="-8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types.</a:t>
            </a:r>
            <a:endParaRPr sz="1800" dirty="0">
              <a:latin typeface="Times New Roman" panose="02020603050405020304" pitchFamily="18" charset="0"/>
              <a:cs typeface="Times New Roman" panose="02020603050405020304" pitchFamily="18" charset="0"/>
            </a:endParaRPr>
          </a:p>
          <a:p>
            <a:pPr marL="299720" marR="817245" indent="-286385" algn="just">
              <a:lnSpc>
                <a:spcPct val="150000"/>
              </a:lnSpc>
              <a:spcBef>
                <a:spcPts val="1775"/>
              </a:spcBef>
              <a:buFont typeface="Wingdings" panose="05000000000000000000"/>
              <a:buChar char=""/>
              <a:tabLst>
                <a:tab pos="299720" algn="l"/>
              </a:tabLst>
            </a:pPr>
            <a:r>
              <a:rPr sz="1800" b="1" spc="-10" dirty="0">
                <a:latin typeface="Times New Roman" panose="02020603050405020304" pitchFamily="18" charset="0"/>
                <a:cs typeface="Times New Roman" panose="02020603050405020304" pitchFamily="18" charset="0"/>
              </a:rPr>
              <a:t>Better</a:t>
            </a:r>
            <a:r>
              <a:rPr sz="1800" b="1" spc="-8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Feature</a:t>
            </a:r>
            <a:r>
              <a:rPr sz="1800" b="1" spc="-7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Selection</a:t>
            </a:r>
            <a:r>
              <a:rPr sz="1800" b="1" spc="-7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t>
            </a:r>
            <a:r>
              <a:rPr sz="1800" b="1"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Filters</a:t>
            </a:r>
            <a:r>
              <a:rPr sz="1800" spc="-5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irrelevant</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data,</a:t>
            </a:r>
            <a:r>
              <a:rPr sz="1800" spc="-5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improving</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classification.</a:t>
            </a:r>
            <a:r>
              <a:rPr sz="1800" spc="-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Different </a:t>
            </a:r>
            <a:r>
              <a:rPr sz="1800" dirty="0">
                <a:latin typeface="Times New Roman" panose="02020603050405020304" pitchFamily="18" charset="0"/>
                <a:cs typeface="Times New Roman" panose="02020603050405020304" pitchFamily="18" charset="0"/>
              </a:rPr>
              <a:t>algorithms</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excel</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different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types</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feature</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interactions.</a:t>
            </a:r>
            <a:endParaRPr sz="18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75965" y="1642109"/>
            <a:ext cx="16998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a:cs typeface="Times New Roman" panose="02020603050405020304"/>
              </a:rPr>
              <a:t>:</a:t>
            </a:r>
            <a:r>
              <a:rPr sz="1800" spc="32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Windows</a:t>
            </a:r>
            <a:r>
              <a:rPr sz="1800" spc="-2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7/8/10</a:t>
            </a:r>
            <a:endParaRPr sz="1800" dirty="0">
              <a:latin typeface="Times New Roman" panose="02020603050405020304"/>
              <a:cs typeface="Times New Roman" panose="02020603050405020304"/>
            </a:endParaRPr>
          </a:p>
        </p:txBody>
      </p:sp>
      <p:sp>
        <p:nvSpPr>
          <p:cNvPr id="3" name="object 3"/>
          <p:cNvSpPr txBox="1"/>
          <p:nvPr/>
        </p:nvSpPr>
        <p:spPr>
          <a:xfrm>
            <a:off x="3275838" y="2188971"/>
            <a:ext cx="3201162"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60" dirty="0">
                <a:latin typeface="Calibri" panose="020F0502020204030204"/>
                <a:cs typeface="Calibri" panose="020F0502020204030204"/>
              </a:rPr>
              <a:t> </a:t>
            </a:r>
            <a:r>
              <a:rPr sz="1800" dirty="0">
                <a:latin typeface="Times New Roman" panose="02020603050405020304" pitchFamily="18" charset="0"/>
                <a:cs typeface="Times New Roman" panose="02020603050405020304" pitchFamily="18" charset="0"/>
              </a:rPr>
              <a:t>HTML,</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CSS,</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Bootstrap</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&amp;</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JS</a:t>
            </a:r>
            <a:endParaRPr sz="18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3275838" y="2733040"/>
            <a:ext cx="84264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90" dirty="0">
                <a:latin typeface="Calibri" panose="020F0502020204030204"/>
                <a:cs typeface="Calibri" panose="020F0502020204030204"/>
              </a:rPr>
              <a:t> </a:t>
            </a:r>
            <a:r>
              <a:rPr sz="1800" spc="-10" dirty="0">
                <a:latin typeface="Times New Roman" panose="02020603050405020304" pitchFamily="18" charset="0"/>
                <a:cs typeface="Times New Roman" panose="02020603050405020304" pitchFamily="18" charset="0"/>
              </a:rPr>
              <a:t>Python</a:t>
            </a:r>
            <a:endParaRPr sz="18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3275838" y="3278327"/>
            <a:ext cx="38271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85" dirty="0">
                <a:latin typeface="Calibri" panose="020F0502020204030204"/>
                <a:cs typeface="Calibri" panose="020F0502020204030204"/>
              </a:rPr>
              <a:t> </a:t>
            </a:r>
            <a:r>
              <a:rPr sz="1800" dirty="0">
                <a:latin typeface="Times New Roman" panose="02020603050405020304" pitchFamily="18" charset="0"/>
                <a:cs typeface="Times New Roman" panose="02020603050405020304" pitchFamily="18" charset="0"/>
              </a:rPr>
              <a:t>Flask,</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Pandas,</a:t>
            </a:r>
            <a:r>
              <a:rPr sz="1800" spc="-25"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Mysql.connector, </a:t>
            </a:r>
            <a:r>
              <a:rPr sz="1800" spc="-10" dirty="0">
                <a:latin typeface="Times New Roman" panose="02020603050405020304" pitchFamily="18" charset="0"/>
                <a:cs typeface="Times New Roman" panose="02020603050405020304" pitchFamily="18" charset="0"/>
              </a:rPr>
              <a:t>Numpy</a:t>
            </a:r>
            <a:endParaRPr sz="18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3275838" y="3824478"/>
            <a:ext cx="1296162" cy="297813"/>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90" dirty="0">
                <a:latin typeface="Calibri" panose="020F0502020204030204"/>
                <a:cs typeface="Calibri" panose="020F0502020204030204"/>
              </a:rPr>
              <a:t> </a:t>
            </a:r>
            <a:r>
              <a:rPr sz="1800" spc="-10" dirty="0">
                <a:latin typeface="Times New Roman" panose="02020603050405020304" pitchFamily="18" charset="0"/>
                <a:cs typeface="Times New Roman" panose="02020603050405020304" pitchFamily="18" charset="0"/>
              </a:rPr>
              <a:t>PyChar</a:t>
            </a:r>
            <a:r>
              <a:rPr lang="en-US" sz="1800" spc="-10" dirty="0">
                <a:latin typeface="Times New Roman" panose="02020603050405020304" pitchFamily="18" charset="0"/>
                <a:cs typeface="Times New Roman" panose="02020603050405020304" pitchFamily="18" charset="0"/>
              </a:rPr>
              <a:t>m</a:t>
            </a:r>
            <a:endParaRPr sz="18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3275838" y="4368545"/>
            <a:ext cx="11817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5" dirty="0">
                <a:latin typeface="Calibri" panose="020F0502020204030204"/>
                <a:cs typeface="Calibri" panose="020F0502020204030204"/>
              </a:rPr>
              <a:t> </a:t>
            </a:r>
            <a:r>
              <a:rPr sz="1800" dirty="0">
                <a:latin typeface="Times New Roman" panose="02020603050405020304" pitchFamily="18" charset="0"/>
                <a:cs typeface="Times New Roman" panose="02020603050405020304" pitchFamily="18" charset="0"/>
              </a:rPr>
              <a:t>Python</a:t>
            </a:r>
            <a:r>
              <a:rPr sz="1800" spc="-25" dirty="0">
                <a:latin typeface="Times New Roman" panose="02020603050405020304" pitchFamily="18" charset="0"/>
                <a:cs typeface="Times New Roman" panose="02020603050405020304" pitchFamily="18" charset="0"/>
              </a:rPr>
              <a:t> 3.6</a:t>
            </a:r>
            <a:endParaRPr sz="1800"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sz="half" idx="2"/>
          </p:nvPr>
        </p:nvSpPr>
        <p:spPr>
          <a:prstGeom prst="rect">
            <a:avLst/>
          </a:prstGeom>
        </p:spPr>
        <p:txBody>
          <a:bodyPr vert="horz" wrap="square" lIns="0" tIns="12700" rIns="0" bIns="0" rtlCol="0">
            <a:spAutoFit/>
          </a:bodyPr>
          <a:lstStyle/>
          <a:p>
            <a:pPr marL="349885" indent="-337185">
              <a:lnSpc>
                <a:spcPct val="100000"/>
              </a:lnSpc>
              <a:spcBef>
                <a:spcPts val="100"/>
              </a:spcBef>
              <a:buFont typeface="Wingdings" panose="05000000000000000000"/>
              <a:buChar char=""/>
              <a:tabLst>
                <a:tab pos="349885" algn="l"/>
              </a:tabLst>
            </a:pPr>
            <a:r>
              <a:rPr dirty="0"/>
              <a:t>Operating</a:t>
            </a:r>
            <a:r>
              <a:rPr spc="-114" dirty="0"/>
              <a:t> </a:t>
            </a:r>
            <a:r>
              <a:rPr spc="-10" dirty="0"/>
              <a:t>System</a:t>
            </a:r>
          </a:p>
          <a:p>
            <a:pPr>
              <a:lnSpc>
                <a:spcPct val="100000"/>
              </a:lnSpc>
              <a:spcBef>
                <a:spcPts val="70"/>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dirty="0"/>
              <a:t>Front</a:t>
            </a:r>
            <a:r>
              <a:rPr spc="-65" dirty="0"/>
              <a:t> </a:t>
            </a:r>
            <a:r>
              <a:rPr dirty="0"/>
              <a:t>end</a:t>
            </a:r>
            <a:r>
              <a:rPr spc="-60" dirty="0"/>
              <a:t> </a:t>
            </a:r>
            <a:r>
              <a:rPr spc="-10" dirty="0"/>
              <a:t>technology</a:t>
            </a:r>
          </a:p>
          <a:p>
            <a:pPr>
              <a:lnSpc>
                <a:spcPct val="100000"/>
              </a:lnSpc>
              <a:spcBef>
                <a:spcPts val="55"/>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spc="-10" dirty="0"/>
              <a:t>Programming</a:t>
            </a:r>
            <a:r>
              <a:rPr spc="-90" dirty="0"/>
              <a:t> </a:t>
            </a:r>
            <a:r>
              <a:rPr spc="-10" dirty="0"/>
              <a:t>Language</a:t>
            </a:r>
          </a:p>
          <a:p>
            <a:pPr>
              <a:lnSpc>
                <a:spcPct val="100000"/>
              </a:lnSpc>
              <a:spcBef>
                <a:spcPts val="65"/>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spc="-10" dirty="0"/>
              <a:t>Libraries</a:t>
            </a:r>
          </a:p>
          <a:p>
            <a:pPr>
              <a:lnSpc>
                <a:spcPct val="100000"/>
              </a:lnSpc>
              <a:spcBef>
                <a:spcPts val="65"/>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spc="-10" dirty="0"/>
              <a:t>IDE/Workbench</a:t>
            </a:r>
          </a:p>
          <a:p>
            <a:pPr>
              <a:lnSpc>
                <a:spcPct val="100000"/>
              </a:lnSpc>
              <a:spcBef>
                <a:spcPts val="55"/>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spc="-10" dirty="0"/>
              <a:t>Technology</a:t>
            </a:r>
          </a:p>
          <a:p>
            <a:pPr>
              <a:lnSpc>
                <a:spcPct val="100000"/>
              </a:lnSpc>
              <a:spcBef>
                <a:spcPts val="70"/>
              </a:spcBef>
              <a:buFont typeface="Wingdings" panose="05000000000000000000"/>
              <a:buChar char=""/>
            </a:pPr>
            <a:endParaRPr spc="-10" dirty="0"/>
          </a:p>
          <a:p>
            <a:pPr marL="349885" indent="-337185">
              <a:lnSpc>
                <a:spcPct val="100000"/>
              </a:lnSpc>
              <a:buFont typeface="Wingdings" panose="05000000000000000000"/>
              <a:buChar char=""/>
              <a:tabLst>
                <a:tab pos="349885" algn="l"/>
              </a:tabLst>
            </a:pPr>
            <a:r>
              <a:rPr dirty="0"/>
              <a:t>Server</a:t>
            </a:r>
            <a:r>
              <a:rPr spc="-55" dirty="0"/>
              <a:t> </a:t>
            </a:r>
            <a:r>
              <a:rPr spc="-10" dirty="0"/>
              <a:t>Deployment</a:t>
            </a:r>
          </a:p>
        </p:txBody>
      </p:sp>
      <p:sp>
        <p:nvSpPr>
          <p:cNvPr id="9" name="object 9"/>
          <p:cNvSpPr txBox="1"/>
          <p:nvPr/>
        </p:nvSpPr>
        <p:spPr>
          <a:xfrm>
            <a:off x="3275838" y="4914519"/>
            <a:ext cx="1829562"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25" dirty="0">
                <a:latin typeface="Calibri" panose="020F0502020204030204"/>
                <a:cs typeface="Calibri" panose="020F0502020204030204"/>
              </a:rPr>
              <a:t> </a:t>
            </a:r>
            <a:r>
              <a:rPr sz="1800" dirty="0">
                <a:latin typeface="Times New Roman" panose="02020603050405020304" pitchFamily="18" charset="0"/>
                <a:cs typeface="Times New Roman" panose="02020603050405020304" pitchFamily="18" charset="0"/>
              </a:rPr>
              <a:t>Xampp</a:t>
            </a:r>
            <a:r>
              <a:rPr sz="1800" spc="-4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Server</a:t>
            </a:r>
            <a:endParaRPr sz="1800"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title"/>
          </p:nvPr>
        </p:nvSpPr>
        <p:spPr>
          <a:xfrm>
            <a:off x="1323594" y="89915"/>
            <a:ext cx="5970905" cy="520014"/>
          </a:xfrm>
          <a:prstGeom prst="rect">
            <a:avLst/>
          </a:prstGeom>
        </p:spPr>
        <p:txBody>
          <a:bodyPr vert="horz" wrap="square" lIns="0" tIns="210185" rIns="0" bIns="0" rtlCol="0">
            <a:spAutoFit/>
          </a:bodyPr>
          <a:lstStyle/>
          <a:p>
            <a:pPr marL="1536700" algn="just">
              <a:spcBef>
                <a:spcPts val="105"/>
              </a:spcBef>
            </a:pPr>
            <a:r>
              <a:rPr sz="2000" spc="-20" dirty="0">
                <a:latin typeface="Times New Roman" panose="02020603050405020304" pitchFamily="18" charset="0"/>
                <a:cs typeface="Times New Roman" panose="02020603050405020304" pitchFamily="18" charset="0"/>
              </a:rPr>
              <a:t>SOFTWARE</a:t>
            </a:r>
            <a:r>
              <a:rPr sz="2000" spc="-5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REQUIREMENTS</a:t>
            </a:r>
            <a:endParaRPr sz="2000" dirty="0">
              <a:latin typeface="Times New Roman" panose="02020603050405020304" pitchFamily="18" charset="0"/>
              <a:cs typeface="Times New Roman" panose="02020603050405020304" pitchFamily="18" charset="0"/>
            </a:endParaRPr>
          </a:p>
        </p:txBody>
      </p:sp>
      <p:pic>
        <p:nvPicPr>
          <p:cNvPr id="12"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3594" y="89915"/>
            <a:ext cx="5970905" cy="500906"/>
          </a:xfrm>
          <a:prstGeom prst="rect">
            <a:avLst/>
          </a:prstGeom>
        </p:spPr>
        <p:txBody>
          <a:bodyPr vert="horz" wrap="square" lIns="0" tIns="53340" rIns="0" bIns="0" rtlCol="0">
            <a:spAutoFit/>
          </a:bodyPr>
          <a:lstStyle/>
          <a:p>
            <a:pPr marL="1414145" algn="just">
              <a:lnSpc>
                <a:spcPct val="150000"/>
              </a:lnSpc>
              <a:spcBef>
                <a:spcPts val="95"/>
              </a:spcBef>
            </a:pPr>
            <a:r>
              <a:rPr sz="2200" spc="-35" dirty="0">
                <a:latin typeface="Times New Roman" panose="02020603050405020304" pitchFamily="18" charset="0"/>
                <a:cs typeface="Times New Roman" panose="02020603050405020304" pitchFamily="18" charset="0"/>
              </a:rPr>
              <a:t>HARDWARE</a:t>
            </a:r>
            <a:r>
              <a:rPr sz="2200" spc="-5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REQUIREMNTS</a:t>
            </a:r>
            <a:endParaRPr sz="2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782319" y="1661286"/>
            <a:ext cx="1483360" cy="2783205"/>
          </a:xfrm>
          <a:prstGeom prst="rect">
            <a:avLst/>
          </a:prstGeom>
        </p:spPr>
        <p:txBody>
          <a:bodyPr vert="horz" wrap="square" lIns="0" tIns="133350" rIns="0" bIns="0" rtlCol="0">
            <a:spAutoFit/>
          </a:bodyPr>
          <a:lstStyle/>
          <a:p>
            <a:pPr marL="297815" indent="-285115">
              <a:lnSpc>
                <a:spcPct val="110000"/>
              </a:lnSpc>
              <a:spcBef>
                <a:spcPts val="1050"/>
              </a:spcBef>
              <a:buFont typeface="Wingdings" panose="05000000000000000000"/>
              <a:buChar char=""/>
              <a:tabLst>
                <a:tab pos="297815" algn="l"/>
              </a:tabLst>
            </a:pPr>
            <a:r>
              <a:rPr lang="en-US" sz="2000" spc="-1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Processor</a:t>
            </a:r>
            <a:endParaRPr sz="2000" dirty="0">
              <a:latin typeface="Times New Roman" panose="02020603050405020304"/>
              <a:cs typeface="Times New Roman" panose="02020603050405020304"/>
            </a:endParaRPr>
          </a:p>
          <a:p>
            <a:pPr marL="297815" indent="-285115">
              <a:lnSpc>
                <a:spcPct val="110000"/>
              </a:lnSpc>
              <a:spcBef>
                <a:spcPts val="950"/>
              </a:spcBef>
              <a:buFont typeface="Wingdings" panose="05000000000000000000"/>
              <a:buChar char=""/>
              <a:tabLst>
                <a:tab pos="297815" algn="l"/>
              </a:tabLst>
            </a:pPr>
            <a:r>
              <a:rPr lang="en-US" sz="2000" spc="-2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RAM</a:t>
            </a:r>
            <a:endParaRPr sz="2000" dirty="0">
              <a:latin typeface="Times New Roman" panose="02020603050405020304"/>
              <a:cs typeface="Times New Roman" panose="02020603050405020304"/>
            </a:endParaRPr>
          </a:p>
          <a:p>
            <a:pPr marL="361315" indent="-348615">
              <a:lnSpc>
                <a:spcPct val="110000"/>
              </a:lnSpc>
              <a:spcBef>
                <a:spcPts val="980"/>
              </a:spcBef>
              <a:buFont typeface="Wingdings" panose="05000000000000000000"/>
              <a:buChar char=""/>
              <a:tabLst>
                <a:tab pos="361315" algn="l"/>
              </a:tabLst>
            </a:pPr>
            <a:r>
              <a:rPr sz="2000" dirty="0">
                <a:latin typeface="Times New Roman" panose="02020603050405020304"/>
                <a:cs typeface="Times New Roman" panose="02020603050405020304"/>
              </a:rPr>
              <a:t>Hard</a:t>
            </a:r>
            <a:r>
              <a:rPr sz="2000" spc="-3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Disk</a:t>
            </a:r>
            <a:endParaRPr sz="2000" dirty="0">
              <a:latin typeface="Times New Roman" panose="02020603050405020304"/>
              <a:cs typeface="Times New Roman" panose="02020603050405020304"/>
            </a:endParaRPr>
          </a:p>
          <a:p>
            <a:pPr marL="361315" indent="-348615">
              <a:lnSpc>
                <a:spcPct val="110000"/>
              </a:lnSpc>
              <a:spcBef>
                <a:spcPts val="965"/>
              </a:spcBef>
              <a:buFont typeface="Wingdings" panose="05000000000000000000"/>
              <a:buChar char=""/>
              <a:tabLst>
                <a:tab pos="361315" algn="l"/>
              </a:tabLst>
            </a:pPr>
            <a:r>
              <a:rPr sz="2000" dirty="0">
                <a:latin typeface="Times New Roman" panose="02020603050405020304"/>
                <a:cs typeface="Times New Roman" panose="02020603050405020304"/>
              </a:rPr>
              <a:t>Key</a:t>
            </a:r>
            <a:r>
              <a:rPr sz="2000" spc="-2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Board</a:t>
            </a:r>
            <a:endParaRPr sz="2000" dirty="0">
              <a:latin typeface="Times New Roman" panose="02020603050405020304"/>
              <a:cs typeface="Times New Roman" panose="02020603050405020304"/>
            </a:endParaRPr>
          </a:p>
          <a:p>
            <a:pPr marL="361315" indent="-348615">
              <a:lnSpc>
                <a:spcPct val="110000"/>
              </a:lnSpc>
              <a:spcBef>
                <a:spcPts val="965"/>
              </a:spcBef>
              <a:buFont typeface="Wingdings" panose="05000000000000000000"/>
              <a:buChar char=""/>
              <a:tabLst>
                <a:tab pos="361315" algn="l"/>
              </a:tabLst>
            </a:pPr>
            <a:r>
              <a:rPr sz="2000" spc="-10" dirty="0">
                <a:latin typeface="Times New Roman" panose="02020603050405020304"/>
                <a:cs typeface="Times New Roman" panose="02020603050405020304"/>
              </a:rPr>
              <a:t>Mouse</a:t>
            </a:r>
            <a:endParaRPr sz="2000" dirty="0">
              <a:latin typeface="Times New Roman" panose="02020603050405020304"/>
              <a:cs typeface="Times New Roman" panose="02020603050405020304"/>
            </a:endParaRPr>
          </a:p>
          <a:p>
            <a:pPr marL="361315" indent="-348615">
              <a:lnSpc>
                <a:spcPct val="110000"/>
              </a:lnSpc>
              <a:spcBef>
                <a:spcPts val="965"/>
              </a:spcBef>
              <a:buFont typeface="Wingdings" panose="05000000000000000000"/>
              <a:buChar char=""/>
              <a:tabLst>
                <a:tab pos="361315" algn="l"/>
              </a:tabLst>
            </a:pPr>
            <a:r>
              <a:rPr sz="2000" spc="-10" dirty="0">
                <a:latin typeface="Times New Roman" panose="02020603050405020304"/>
                <a:cs typeface="Times New Roman" panose="02020603050405020304"/>
              </a:rPr>
              <a:t>Monitor</a:t>
            </a:r>
            <a:endParaRPr sz="2000" dirty="0">
              <a:latin typeface="Times New Roman" panose="02020603050405020304"/>
              <a:cs typeface="Times New Roman" panose="02020603050405020304"/>
            </a:endParaRPr>
          </a:p>
        </p:txBody>
      </p:sp>
      <p:sp>
        <p:nvSpPr>
          <p:cNvPr id="5" name="object 5"/>
          <p:cNvSpPr txBox="1"/>
          <p:nvPr/>
        </p:nvSpPr>
        <p:spPr>
          <a:xfrm>
            <a:off x="3171189" y="1661286"/>
            <a:ext cx="3317240" cy="2783205"/>
          </a:xfrm>
          <a:prstGeom prst="rect">
            <a:avLst/>
          </a:prstGeom>
        </p:spPr>
        <p:txBody>
          <a:bodyPr vert="horz" wrap="square" lIns="0" tIns="133350" rIns="0" bIns="0" rtlCol="0">
            <a:spAutoFit/>
          </a:bodyPr>
          <a:lstStyle/>
          <a:p>
            <a:pPr marL="100330">
              <a:lnSpc>
                <a:spcPct val="110000"/>
              </a:lnSpc>
              <a:spcBef>
                <a:spcPts val="1050"/>
              </a:spcBef>
            </a:pPr>
            <a:r>
              <a:rPr sz="2000" dirty="0">
                <a:latin typeface="Times New Roman" panose="02020603050405020304"/>
                <a:cs typeface="Times New Roman" panose="02020603050405020304"/>
              </a:rPr>
              <a:t>:</a:t>
            </a:r>
            <a:r>
              <a:rPr sz="2000" spc="484" dirty="0">
                <a:latin typeface="Times New Roman" panose="02020603050405020304"/>
                <a:cs typeface="Times New Roman" panose="02020603050405020304"/>
              </a:rPr>
              <a:t> </a:t>
            </a:r>
            <a:r>
              <a:rPr sz="2000" dirty="0">
                <a:latin typeface="Times New Roman" panose="02020603050405020304"/>
                <a:cs typeface="Times New Roman" panose="02020603050405020304"/>
              </a:rPr>
              <a:t>I5/Intel</a:t>
            </a:r>
            <a:r>
              <a:rPr sz="2000" spc="-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Processor</a:t>
            </a:r>
            <a:endParaRPr sz="2000" dirty="0">
              <a:latin typeface="Times New Roman" panose="02020603050405020304"/>
              <a:cs typeface="Times New Roman" panose="02020603050405020304"/>
            </a:endParaRPr>
          </a:p>
          <a:p>
            <a:pPr marL="12700">
              <a:lnSpc>
                <a:spcPct val="110000"/>
              </a:lnSpc>
              <a:spcBef>
                <a:spcPts val="950"/>
              </a:spcBef>
            </a:pPr>
            <a:r>
              <a:rPr lang="en-IN" altLang="en-US" sz="200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470" dirty="0">
                <a:latin typeface="Times New Roman" panose="02020603050405020304"/>
                <a:cs typeface="Times New Roman" panose="02020603050405020304"/>
              </a:rPr>
              <a:t> </a:t>
            </a:r>
            <a:r>
              <a:rPr sz="2000" dirty="0">
                <a:latin typeface="Times New Roman" panose="02020603050405020304"/>
                <a:cs typeface="Times New Roman" panose="02020603050405020304"/>
              </a:rPr>
              <a:t>8GB</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(min)</a:t>
            </a:r>
            <a:endParaRPr sz="2000" dirty="0">
              <a:latin typeface="Times New Roman" panose="02020603050405020304"/>
              <a:cs typeface="Times New Roman" panose="02020603050405020304"/>
            </a:endParaRPr>
          </a:p>
          <a:p>
            <a:pPr marL="100330">
              <a:lnSpc>
                <a:spcPct val="110000"/>
              </a:lnSpc>
              <a:spcBef>
                <a:spcPts val="980"/>
              </a:spcBef>
            </a:pPr>
            <a:r>
              <a:rPr sz="2000" dirty="0">
                <a:latin typeface="Times New Roman" panose="02020603050405020304"/>
                <a:cs typeface="Times New Roman" panose="02020603050405020304"/>
              </a:rPr>
              <a:t>:</a:t>
            </a:r>
            <a:r>
              <a:rPr sz="2000" spc="490" dirty="0">
                <a:latin typeface="Times New Roman" panose="02020603050405020304"/>
                <a:cs typeface="Times New Roman" panose="02020603050405020304"/>
              </a:rPr>
              <a:t> </a:t>
            </a:r>
            <a:r>
              <a:rPr sz="2000" dirty="0">
                <a:latin typeface="Times New Roman" panose="02020603050405020304"/>
                <a:cs typeface="Times New Roman" panose="02020603050405020304"/>
              </a:rPr>
              <a:t>128</a:t>
            </a:r>
            <a:r>
              <a:rPr sz="2000" spc="-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GB</a:t>
            </a:r>
            <a:endParaRPr sz="2000" dirty="0">
              <a:latin typeface="Times New Roman" panose="02020603050405020304"/>
              <a:cs typeface="Times New Roman" panose="02020603050405020304"/>
            </a:endParaRPr>
          </a:p>
          <a:p>
            <a:pPr marL="100330">
              <a:lnSpc>
                <a:spcPct val="110000"/>
              </a:lnSpc>
              <a:spcBef>
                <a:spcPts val="965"/>
              </a:spcBef>
            </a:pPr>
            <a:r>
              <a:rPr sz="2000" dirty="0">
                <a:latin typeface="Times New Roman" panose="02020603050405020304"/>
                <a:cs typeface="Times New Roman" panose="02020603050405020304"/>
              </a:rPr>
              <a:t>:</a:t>
            </a:r>
            <a:r>
              <a:rPr sz="2000" spc="465" dirty="0">
                <a:latin typeface="Times New Roman" panose="02020603050405020304"/>
                <a:cs typeface="Times New Roman" panose="02020603050405020304"/>
              </a:rPr>
              <a:t> </a:t>
            </a:r>
            <a:r>
              <a:rPr sz="2000" dirty="0">
                <a:latin typeface="Times New Roman" panose="02020603050405020304"/>
                <a:cs typeface="Times New Roman" panose="02020603050405020304"/>
              </a:rPr>
              <a:t>Standard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Windows</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Keyboard</a:t>
            </a:r>
            <a:endParaRPr sz="2000" dirty="0">
              <a:latin typeface="Times New Roman" panose="02020603050405020304"/>
              <a:cs typeface="Times New Roman" panose="02020603050405020304"/>
            </a:endParaRPr>
          </a:p>
          <a:p>
            <a:pPr marL="100330">
              <a:lnSpc>
                <a:spcPct val="110000"/>
              </a:lnSpc>
              <a:spcBef>
                <a:spcPts val="965"/>
              </a:spcBef>
            </a:pPr>
            <a:r>
              <a:rPr sz="2000" dirty="0">
                <a:latin typeface="Times New Roman" panose="02020603050405020304"/>
                <a:cs typeface="Times New Roman" panose="02020603050405020304"/>
              </a:rPr>
              <a:t>:</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Three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Button</a:t>
            </a:r>
            <a:r>
              <a:rPr sz="2000" spc="-20" dirty="0">
                <a:latin typeface="Times New Roman" panose="02020603050405020304"/>
                <a:cs typeface="Times New Roman" panose="02020603050405020304"/>
              </a:rPr>
              <a:t> Mouse</a:t>
            </a:r>
            <a:endParaRPr sz="2000" dirty="0">
              <a:latin typeface="Times New Roman" panose="02020603050405020304"/>
              <a:cs typeface="Times New Roman" panose="02020603050405020304"/>
            </a:endParaRPr>
          </a:p>
          <a:p>
            <a:pPr marL="100330">
              <a:lnSpc>
                <a:spcPct val="110000"/>
              </a:lnSpc>
              <a:spcBef>
                <a:spcPts val="965"/>
              </a:spcBef>
            </a:pP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Any</a:t>
            </a:r>
            <a:endParaRPr sz="2000" dirty="0">
              <a:latin typeface="Times New Roman" panose="02020603050405020304"/>
              <a:cs typeface="Times New Roman" panose="02020603050405020304"/>
            </a:endParaRPr>
          </a:p>
        </p:txBody>
      </p:sp>
      <p:pic>
        <p:nvPicPr>
          <p:cNvPr id="6"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gn="just">
              <a:lnSpc>
                <a:spcPct val="150000"/>
              </a:lnSpc>
            </a:pPr>
            <a:r>
              <a:rPr lang="en-US" dirty="0"/>
              <a:t>                                   </a:t>
            </a:r>
            <a:r>
              <a:rPr lang="en-US" dirty="0">
                <a:latin typeface="Times New Roman" panose="02020603050405020304" pitchFamily="18" charset="0"/>
                <a:cs typeface="Times New Roman" panose="02020603050405020304" pitchFamily="18" charset="0"/>
              </a:rPr>
              <a:t>MODULES</a:t>
            </a:r>
          </a:p>
        </p:txBody>
      </p:sp>
      <p:sp>
        <p:nvSpPr>
          <p:cNvPr id="3" name="Text Placeholder 2"/>
          <p:cNvSpPr>
            <a:spLocks noGrp="1"/>
          </p:cNvSpPr>
          <p:nvPr>
            <p:ph type="body" idx="1"/>
          </p:nvPr>
        </p:nvSpPr>
        <p:spPr>
          <a:xfrm>
            <a:off x="277495" y="922655"/>
            <a:ext cx="8588375" cy="5767070"/>
          </a:xfrm>
        </p:spPr>
        <p:txBody>
          <a:bodyPr>
            <a:noAutofit/>
          </a:bodyPr>
          <a:lstStyle/>
          <a:p>
            <a:pPr lvl="0" indent="0" algn="just">
              <a:lnSpc>
                <a:spcPct val="150000"/>
              </a:lnSpc>
              <a:spcAft>
                <a:spcPts val="0"/>
              </a:spcAft>
              <a:buClr>
                <a:srgbClr val="000000"/>
              </a:buClr>
              <a:buFont typeface="+mj-lt"/>
              <a:buNone/>
            </a:pPr>
            <a:r>
              <a:rPr lang="en-US" sz="1400" b="1" dirty="0">
                <a:latin typeface="Times New Roman" panose="02020603050405020304" pitchFamily="18" charset="0"/>
                <a:ea typeface="Calibri" panose="020F0502020204030204" charset="0"/>
                <a:cs typeface="Times New Roman" panose="02020603050405020304" pitchFamily="18" charset="0"/>
                <a:sym typeface="+mn-ea"/>
              </a:rPr>
              <a:t>          </a:t>
            </a:r>
            <a:r>
              <a:rPr lang="en-US" b="1" dirty="0">
                <a:latin typeface="Times New Roman" panose="02020603050405020304" pitchFamily="18" charset="0"/>
                <a:ea typeface="Calibri" panose="020F0502020204030204" charset="0"/>
                <a:cs typeface="Times New Roman" panose="02020603050405020304" pitchFamily="18" charset="0"/>
                <a:sym typeface="+mn-ea"/>
              </a:rPr>
              <a:t>1.User</a:t>
            </a:r>
            <a:r>
              <a:rPr lang="en-US" dirty="0">
                <a:latin typeface="Times New Roman" panose="02020603050405020304" pitchFamily="18" charset="0"/>
                <a:ea typeface="Calibri" panose="020F0502020204030204" charset="0"/>
                <a:cs typeface="Times New Roman" panose="02020603050405020304" pitchFamily="18" charset="0"/>
                <a:sym typeface="+mn-ea"/>
              </a:rPr>
              <a:t>: </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View Home page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View about page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View Page.</a:t>
            </a:r>
            <a:endParaRPr lang="en-IN" sz="1600"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Input Model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View Results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mj-lt"/>
              <a:buAutoNum type="arabicPeriod"/>
            </a:pPr>
            <a:r>
              <a:rPr lang="en-US" sz="1600" dirty="0">
                <a:latin typeface="Times New Roman" panose="02020603050405020304" pitchFamily="18" charset="0"/>
                <a:ea typeface="Calibri" panose="020F0502020204030204" charset="0"/>
                <a:cs typeface="Times New Roman" panose="02020603050405020304" pitchFamily="18" charset="0"/>
                <a:sym typeface="+mn-ea"/>
              </a:rPr>
              <a:t>View score</a:t>
            </a:r>
          </a:p>
          <a:p>
            <a:pPr lvl="1" indent="0" algn="just">
              <a:lnSpc>
                <a:spcPct val="150000"/>
              </a:lnSpc>
              <a:spcAft>
                <a:spcPts val="0"/>
              </a:spcAft>
              <a:buFont typeface="Wingdings" panose="05000000000000000000" charset="0"/>
              <a:buNone/>
            </a:pPr>
            <a:r>
              <a:rPr lang="en-US" sz="1800" b="1" dirty="0">
                <a:latin typeface="Times New Roman" panose="02020603050405020304" pitchFamily="18" charset="0"/>
                <a:ea typeface="Calibri" panose="020F0502020204030204" charset="0"/>
                <a:cs typeface="Times New Roman" panose="02020603050405020304" pitchFamily="18" charset="0"/>
                <a:sym typeface="+mn-ea"/>
              </a:rPr>
              <a:t>2.system:</a:t>
            </a:r>
          </a:p>
          <a:p>
            <a:pPr lvl="1" indent="0" algn="just">
              <a:lnSpc>
                <a:spcPct val="150000"/>
              </a:lnSpc>
              <a:spcAft>
                <a:spcPts val="0"/>
              </a:spcAft>
              <a:buFont typeface="+mj-lt"/>
              <a:buNone/>
            </a:pPr>
            <a:r>
              <a:rPr lang="en-US" sz="1600" dirty="0">
                <a:latin typeface="Times New Roman" panose="02020603050405020304" pitchFamily="18" charset="0"/>
                <a:ea typeface="Calibri" panose="020F0502020204030204" charset="0"/>
                <a:cs typeface="Times New Roman" panose="02020603050405020304" pitchFamily="18" charset="0"/>
                <a:sym typeface="+mn-ea"/>
              </a:rPr>
              <a:t>1.   Working on dataset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lvl="1" indent="0" algn="just">
              <a:lnSpc>
                <a:spcPct val="150000"/>
              </a:lnSpc>
              <a:spcAft>
                <a:spcPts val="0"/>
              </a:spcAft>
              <a:buFont typeface="+mj-lt"/>
              <a:buNone/>
            </a:pPr>
            <a:r>
              <a:rPr lang="en-US" sz="1600" dirty="0">
                <a:latin typeface="Times New Roman" panose="02020603050405020304" pitchFamily="18" charset="0"/>
                <a:ea typeface="Calibri" panose="020F0502020204030204" charset="0"/>
                <a:cs typeface="Times New Roman" panose="02020603050405020304" pitchFamily="18" charset="0"/>
                <a:sym typeface="+mn-ea"/>
              </a:rPr>
              <a:t>2.   Pre-processing</a:t>
            </a:r>
          </a:p>
          <a:p>
            <a:pPr lvl="1" indent="0" algn="just">
              <a:lnSpc>
                <a:spcPct val="150000"/>
              </a:lnSpc>
              <a:spcAft>
                <a:spcPts val="0"/>
              </a:spcAft>
              <a:buFont typeface="+mj-lt"/>
              <a:buNone/>
            </a:pPr>
            <a:r>
              <a:rPr lang="en-US" sz="1600" dirty="0">
                <a:latin typeface="Times New Roman" panose="02020603050405020304" pitchFamily="18" charset="0"/>
                <a:ea typeface="Calibri" panose="020F0502020204030204" charset="0"/>
                <a:cs typeface="Times New Roman" panose="02020603050405020304" pitchFamily="18" charset="0"/>
                <a:sym typeface="+mn-ea"/>
              </a:rPr>
              <a:t>3.   split the data  </a:t>
            </a:r>
            <a:endParaRPr lang="en-IN" sz="1600" dirty="0">
              <a:latin typeface="Times New Roman" panose="02020603050405020304" pitchFamily="18" charset="0"/>
              <a:ea typeface="Calibri" panose="020F0502020204030204" charset="0"/>
              <a:cs typeface="Times New Roman" panose="02020603050405020304" pitchFamily="18" charset="0"/>
            </a:endParaRPr>
          </a:p>
          <a:p>
            <a:pPr lvl="1" indent="0" algn="just">
              <a:lnSpc>
                <a:spcPct val="150000"/>
              </a:lnSpc>
              <a:spcAft>
                <a:spcPts val="1000"/>
              </a:spcAft>
              <a:buFont typeface="+mj-lt"/>
              <a:buNone/>
            </a:pPr>
            <a:r>
              <a:rPr lang="en-US" sz="1600" dirty="0">
                <a:latin typeface="Times New Roman" panose="02020603050405020304" pitchFamily="18" charset="0"/>
                <a:ea typeface="Calibri" panose="020F0502020204030204" charset="0"/>
                <a:cs typeface="Times New Roman" panose="02020603050405020304" pitchFamily="18" charset="0"/>
                <a:sym typeface="+mn-ea"/>
              </a:rPr>
              <a:t>4.   Model Building</a:t>
            </a:r>
            <a:endParaRPr lang="en-IN" sz="1600" dirty="0">
              <a:latin typeface="Times New Roman" panose="02020603050405020304" pitchFamily="18" charset="0"/>
              <a:ea typeface="Calibri" panose="020F0502020204030204" charset="0"/>
              <a:cs typeface="Times New Roman" panose="02020603050405020304" pitchFamily="18" charset="0"/>
            </a:endParaRPr>
          </a:p>
          <a:p>
            <a:pPr lvl="1" indent="0" algn="just">
              <a:lnSpc>
                <a:spcPct val="150000"/>
              </a:lnSpc>
              <a:spcAft>
                <a:spcPts val="1000"/>
              </a:spcAft>
              <a:buFont typeface="+mj-lt"/>
              <a:buNone/>
            </a:pPr>
            <a:r>
              <a:rPr lang="en-US" sz="1600" dirty="0">
                <a:latin typeface="Times New Roman" panose="02020603050405020304" pitchFamily="18" charset="0"/>
                <a:ea typeface="Calibri" panose="020F0502020204030204" charset="0"/>
                <a:cs typeface="Times New Roman" panose="02020603050405020304" pitchFamily="18" charset="0"/>
                <a:sym typeface="+mn-ea"/>
              </a:rPr>
              <a:t>5.   Generate Results</a:t>
            </a:r>
            <a:endParaRPr lang="en-IN" sz="1600" dirty="0">
              <a:latin typeface="Times New Roman" panose="02020603050405020304" pitchFamily="18" charset="0"/>
              <a:cs typeface="Times New Roman" panose="02020603050405020304" pitchFamily="18" charset="0"/>
            </a:endParaRPr>
          </a:p>
          <a:p>
            <a:pPr marL="285750" lvl="0" indent="-285750" algn="just">
              <a:lnSpc>
                <a:spcPct val="150000"/>
              </a:lnSpc>
              <a:spcAft>
                <a:spcPts val="0"/>
              </a:spcAft>
              <a:buClr>
                <a:srgbClr val="000000"/>
              </a:buClr>
              <a:buFont typeface="Arial" panose="020B0604020202020204" pitchFamily="34" charset="0"/>
              <a:buChar char="•"/>
            </a:pPr>
            <a:r>
              <a:rPr lang="en-US" altLang="en-IN" sz="1400" dirty="0">
                <a:latin typeface="Times New Roman" panose="02020603050405020304" pitchFamily="18" charset="0"/>
                <a:ea typeface="Calibri" panose="020F0502020204030204" charset="0"/>
                <a:cs typeface="Times New Roman" panose="02020603050405020304" pitchFamily="18" charset="0"/>
                <a:sym typeface="+mn-ea"/>
              </a:rPr>
              <a:t>      </a:t>
            </a:r>
            <a:r>
              <a:rPr lang="en-IN" altLang="en-US" sz="1400" dirty="0">
                <a:latin typeface="Times New Roman" panose="02020603050405020304" pitchFamily="18" charset="0"/>
                <a:ea typeface="Calibri" panose="020F0502020204030204" charset="0"/>
                <a:cs typeface="Times New Roman" panose="02020603050405020304" pitchFamily="18" charset="0"/>
                <a:sym typeface="+mn-ea"/>
              </a:rPr>
              <a:t> </a:t>
            </a:r>
            <a:endParaRPr lang="en-IN" sz="1400" dirty="0">
              <a:latin typeface="Times New Roman" panose="02020603050405020304" pitchFamily="18" charset="0"/>
              <a:cs typeface="Times New Roman" panose="02020603050405020304" pitchFamily="18" charset="0"/>
            </a:endParaRPr>
          </a:p>
          <a:p>
            <a:pPr lvl="0" indent="0" algn="just">
              <a:lnSpc>
                <a:spcPct val="200000"/>
              </a:lnSpc>
              <a:spcAft>
                <a:spcPts val="0"/>
              </a:spcAft>
              <a:buClr>
                <a:srgbClr val="000000"/>
              </a:buClr>
              <a:buFont typeface="+mj-lt"/>
              <a:buNone/>
            </a:pPr>
            <a:endParaRPr lang="en-US" sz="1400"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gn="just">
              <a:lnSpc>
                <a:spcPct val="150000"/>
              </a:lnSpc>
            </a:pPr>
            <a:r>
              <a:rPr lang="en-US" dirty="0">
                <a:sym typeface="+mn-ea"/>
              </a:rPr>
              <a:t>                    </a:t>
            </a:r>
            <a:r>
              <a:rPr lang="en-US" dirty="0">
                <a:latin typeface="Times New Roman" panose="02020603050405020304" pitchFamily="18" charset="0"/>
                <a:cs typeface="Times New Roman" panose="02020603050405020304" pitchFamily="18" charset="0"/>
                <a:sym typeface="+mn-ea"/>
              </a:rPr>
              <a:t>MODULES DESCRIPTION                </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140460"/>
            <a:ext cx="8588375" cy="5407025"/>
          </a:xfrm>
        </p:spPr>
        <p:txBody>
          <a:bodyPr>
            <a:noAutofit/>
          </a:bodyPr>
          <a:lstStyle/>
          <a:p>
            <a:pPr lvl="0" indent="0" algn="just">
              <a:lnSpc>
                <a:spcPct val="150000"/>
              </a:lnSpc>
              <a:spcAft>
                <a:spcPts val="0"/>
              </a:spcAft>
              <a:buClr>
                <a:srgbClr val="000000"/>
              </a:buClr>
              <a:buFont typeface="+mj-lt"/>
              <a:buNone/>
            </a:pPr>
            <a:r>
              <a:rPr lang="en-IN" altLang="en-US" b="1" dirty="0">
                <a:latin typeface="Times New Roman" panose="02020603050405020304" pitchFamily="18" charset="0"/>
                <a:ea typeface="Calibri" panose="020F0502020204030204" charset="0"/>
                <a:cs typeface="Times New Roman" panose="02020603050405020304" pitchFamily="18" charset="0"/>
                <a:sym typeface="+mn-ea"/>
              </a:rPr>
              <a:t>        </a:t>
            </a:r>
            <a:r>
              <a:rPr lang="en-US" sz="2000" b="1" u="sng" dirty="0">
                <a:latin typeface="Times New Roman" panose="02020603050405020304" pitchFamily="18" charset="0"/>
                <a:ea typeface="Calibri" panose="020F0502020204030204" charset="0"/>
                <a:cs typeface="Times New Roman" panose="02020603050405020304" pitchFamily="18" charset="0"/>
                <a:sym typeface="+mn-ea"/>
              </a:rPr>
              <a:t>User</a:t>
            </a:r>
            <a:r>
              <a:rPr lang="en-US" sz="2000" u="sng" dirty="0">
                <a:latin typeface="Times New Roman" panose="02020603050405020304" pitchFamily="18" charset="0"/>
                <a:ea typeface="Calibri" panose="020F0502020204030204" charset="0"/>
                <a:cs typeface="Times New Roman" panose="02020603050405020304" pitchFamily="18" charset="0"/>
                <a:sym typeface="+mn-ea"/>
              </a:rPr>
              <a:t>: </a:t>
            </a:r>
            <a:endParaRPr lang="en-IN" sz="2000" u="sng"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Wingdings" panose="05000000000000000000" charset="0"/>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View Home page: </a:t>
            </a:r>
            <a:r>
              <a:rPr lang="en-US" dirty="0">
                <a:latin typeface="Times New Roman" panose="02020603050405020304" pitchFamily="18" charset="0"/>
                <a:ea typeface="Calibri" panose="020F0502020204030204" charset="0"/>
                <a:cs typeface="Times New Roman" panose="02020603050405020304" pitchFamily="18" charset="0"/>
                <a:sym typeface="+mn-ea"/>
              </a:rPr>
              <a:t>Here user view the home page of the You tube  application. </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Wingdings" panose="05000000000000000000" charset="0"/>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View about page: </a:t>
            </a:r>
            <a:r>
              <a:rPr lang="en-US" dirty="0">
                <a:latin typeface="Times New Roman" panose="02020603050405020304" pitchFamily="18" charset="0"/>
                <a:ea typeface="Calibri" panose="020F0502020204030204" charset="0"/>
                <a:cs typeface="Times New Roman" panose="02020603050405020304" pitchFamily="18" charset="0"/>
                <a:sym typeface="+mn-ea"/>
              </a:rPr>
              <a:t>In the about page, users can learn more about the You tube  platform.</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Wingdings" panose="05000000000000000000" charset="0"/>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View Page:  </a:t>
            </a:r>
            <a:r>
              <a:rPr lang="en-US" dirty="0">
                <a:latin typeface="Times New Roman" panose="02020603050405020304" pitchFamily="18" charset="0"/>
                <a:ea typeface="Calibri" panose="020F0502020204030204" charset="0"/>
                <a:cs typeface="Times New Roman" panose="02020603050405020304" pitchFamily="18" charset="0"/>
                <a:sym typeface="+mn-ea"/>
              </a:rPr>
              <a:t>User will see the dataset.</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Wingdings" panose="05000000000000000000" charset="0"/>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Input Model: </a:t>
            </a:r>
            <a:r>
              <a:rPr lang="en-US" dirty="0">
                <a:latin typeface="Times New Roman" panose="02020603050405020304" pitchFamily="18" charset="0"/>
                <a:ea typeface="Calibri" panose="020F0502020204030204" charset="0"/>
                <a:cs typeface="Times New Roman" panose="02020603050405020304" pitchFamily="18" charset="0"/>
                <a:sym typeface="+mn-ea"/>
              </a:rPr>
              <a:t>The user must provide input values for the certain fields in order to get results.</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50000"/>
              </a:lnSpc>
              <a:spcAft>
                <a:spcPts val="0"/>
              </a:spcAft>
              <a:buFont typeface="Wingdings" panose="05000000000000000000" charset="0"/>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View Results:</a:t>
            </a:r>
            <a:r>
              <a:rPr lang="en-US" dirty="0">
                <a:latin typeface="Times New Roman" panose="02020603050405020304" pitchFamily="18" charset="0"/>
                <a:ea typeface="Calibri" panose="020F0502020204030204" charset="0"/>
                <a:cs typeface="Times New Roman" panose="02020603050405020304" pitchFamily="18" charset="0"/>
                <a:sym typeface="+mn-ea"/>
              </a:rPr>
              <a:t> User view’s the generated results from the model</a:t>
            </a:r>
            <a:r>
              <a:rPr lang="en-IN" altLang="en-US" dirty="0">
                <a:latin typeface="Times New Roman" panose="02020603050405020304" pitchFamily="18" charset="0"/>
                <a:ea typeface="Calibri" panose="020F0502020204030204" charset="0"/>
                <a:cs typeface="Times New Roman" panose="02020603050405020304" pitchFamily="18" charset="0"/>
                <a:sym typeface="+mn-ea"/>
              </a:rPr>
              <a:t>    </a:t>
            </a:r>
          </a:p>
          <a:p>
            <a:pPr marL="800100" lvl="1" indent="-342900" algn="just">
              <a:lnSpc>
                <a:spcPct val="150000"/>
              </a:lnSpc>
              <a:spcAft>
                <a:spcPts val="0"/>
              </a:spcAft>
              <a:buFont typeface="Wingdings" panose="05000000000000000000" charset="0"/>
              <a:buAutoNum type="arabicPeriod"/>
            </a:pPr>
            <a:r>
              <a:rPr lang="en-IN" altLang="en-US" b="1" dirty="0">
                <a:latin typeface="Times New Roman" panose="02020603050405020304" pitchFamily="18" charset="0"/>
                <a:ea typeface="Calibri" panose="020F0502020204030204" charset="0"/>
                <a:cs typeface="Times New Roman" panose="02020603050405020304" pitchFamily="18" charset="0"/>
                <a:sym typeface="+mn-ea"/>
              </a:rPr>
              <a:t> </a:t>
            </a:r>
            <a:r>
              <a:rPr lang="en-US" b="1" dirty="0">
                <a:latin typeface="Times New Roman" panose="02020603050405020304" pitchFamily="18" charset="0"/>
                <a:ea typeface="Calibri" panose="020F0502020204030204" charset="0"/>
                <a:cs typeface="Times New Roman" panose="02020603050405020304" pitchFamily="18" charset="0"/>
                <a:sym typeface="+mn-ea"/>
              </a:rPr>
              <a:t>View score: </a:t>
            </a:r>
            <a:r>
              <a:rPr lang="en-US" dirty="0">
                <a:latin typeface="Times New Roman" panose="02020603050405020304" pitchFamily="18" charset="0"/>
                <a:ea typeface="Calibri" panose="020F0502020204030204" charset="0"/>
                <a:cs typeface="Times New Roman" panose="02020603050405020304" pitchFamily="18" charset="0"/>
                <a:sym typeface="+mn-ea"/>
              </a:rPr>
              <a:t>Here user have ability to view the accuracy score in %  </a:t>
            </a:r>
            <a:endParaRPr lang="en-IN" dirty="0">
              <a:latin typeface="Times New Roman" panose="02020603050405020304" pitchFamily="18" charset="0"/>
              <a:ea typeface="Calibri" panose="020F0502020204030204" charset="0"/>
              <a:cs typeface="Times New Roman" panose="02020603050405020304" pitchFamily="18" charset="0"/>
            </a:endParaRPr>
          </a:p>
          <a:p>
            <a:pPr marL="800100" lvl="1" indent="-342900" algn="just">
              <a:lnSpc>
                <a:spcPct val="190000"/>
              </a:lnSpc>
              <a:spcAft>
                <a:spcPts val="0"/>
              </a:spcAft>
              <a:buFont typeface="Wingdings" panose="05000000000000000000" charset="0"/>
              <a:buAutoNum type="arabicPeriod"/>
            </a:pPr>
            <a:endParaRPr 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nSpc>
                <a:spcPct val="150000"/>
              </a:lnSpc>
            </a:pPr>
            <a:r>
              <a:rPr lang="en-US" dirty="0">
                <a:sym typeface="+mn-ea"/>
              </a:rPr>
              <a:t>                   </a:t>
            </a:r>
            <a:r>
              <a:rPr lang="en-US" dirty="0">
                <a:latin typeface="Times New Roman" panose="02020603050405020304" pitchFamily="18" charset="0"/>
                <a:cs typeface="Times New Roman" panose="02020603050405020304" pitchFamily="18" charset="0"/>
                <a:sym typeface="+mn-ea"/>
              </a:rPr>
              <a:t>MODULES DESCRIPTION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140460"/>
            <a:ext cx="8588375" cy="5361305"/>
          </a:xfrm>
        </p:spPr>
        <p:txBody>
          <a:bodyPr>
            <a:noAutofit/>
          </a:bodyPr>
          <a:lstStyle/>
          <a:p>
            <a:pPr lvl="0" indent="0" algn="just">
              <a:lnSpc>
                <a:spcPct val="150000"/>
              </a:lnSpc>
              <a:spcAft>
                <a:spcPts val="0"/>
              </a:spcAft>
              <a:buClr>
                <a:srgbClr val="000000"/>
              </a:buClr>
              <a:buFont typeface="+mj-lt"/>
              <a:buNone/>
            </a:pPr>
            <a:r>
              <a:rPr lang="en-IN" altLang="en-US" b="1" dirty="0">
                <a:latin typeface="Times New Roman" panose="02020603050405020304" pitchFamily="18" charset="0"/>
                <a:ea typeface="Calibri" panose="020F0502020204030204" charset="0"/>
                <a:cs typeface="Times New Roman" panose="02020603050405020304" pitchFamily="18" charset="0"/>
                <a:sym typeface="+mn-ea"/>
              </a:rPr>
              <a:t>        </a:t>
            </a:r>
            <a:r>
              <a:rPr lang="en-US" sz="2000" b="1" u="sng" dirty="0">
                <a:latin typeface="Times New Roman" panose="02020603050405020304" pitchFamily="18" charset="0"/>
                <a:ea typeface="Calibri" panose="020F0502020204030204" charset="0"/>
                <a:cs typeface="Times New Roman" panose="02020603050405020304" pitchFamily="18" charset="0"/>
                <a:sym typeface="+mn-ea"/>
              </a:rPr>
              <a:t>System</a:t>
            </a:r>
            <a:r>
              <a:rPr lang="en-IN" altLang="en-US" sz="2000" b="1" u="sng" dirty="0">
                <a:latin typeface="Times New Roman" panose="02020603050405020304" pitchFamily="18" charset="0"/>
                <a:ea typeface="Calibri" panose="020F0502020204030204" charset="0"/>
                <a:cs typeface="Times New Roman" panose="02020603050405020304" pitchFamily="18" charset="0"/>
                <a:sym typeface="+mn-ea"/>
              </a:rPr>
              <a:t>:</a:t>
            </a:r>
            <a:endParaRPr lang="en-IN" sz="2000" u="sng" dirty="0">
              <a:latin typeface="Times New Roman" panose="02020603050405020304" pitchFamily="18" charset="0"/>
              <a:ea typeface="Calibri" panose="020F0502020204030204" charset="0"/>
              <a:cs typeface="Times New Roman" panose="02020603050405020304" pitchFamily="18" charset="0"/>
            </a:endParaRPr>
          </a:p>
          <a:p>
            <a:pPr marL="742950" lvl="1" indent="-285750" algn="just">
              <a:lnSpc>
                <a:spcPct val="150000"/>
              </a:lnSpc>
              <a:spcAft>
                <a:spcPts val="0"/>
              </a:spcAft>
              <a:buFont typeface="+mj-lt"/>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Working on dataset: </a:t>
            </a:r>
            <a:r>
              <a:rPr lang="en-US" dirty="0">
                <a:latin typeface="Times New Roman" panose="02020603050405020304" pitchFamily="18" charset="0"/>
                <a:ea typeface="Calibri" panose="020F0502020204030204" charset="0"/>
                <a:cs typeface="Times New Roman" panose="02020603050405020304" pitchFamily="18" charset="0"/>
                <a:sym typeface="+mn-ea"/>
              </a:rPr>
              <a:t>System checks for data whether it is available or not and load the data in csv files.</a:t>
            </a:r>
            <a:endParaRPr lang="en-IN" dirty="0">
              <a:latin typeface="Times New Roman" panose="02020603050405020304" pitchFamily="18" charset="0"/>
              <a:ea typeface="Calibri" panose="020F0502020204030204" charset="0"/>
              <a:cs typeface="Times New Roman" panose="02020603050405020304" pitchFamily="18" charset="0"/>
            </a:endParaRPr>
          </a:p>
          <a:p>
            <a:pPr marL="742950" lvl="1" indent="-285750" algn="just">
              <a:lnSpc>
                <a:spcPct val="150000"/>
              </a:lnSpc>
              <a:spcAft>
                <a:spcPts val="0"/>
              </a:spcAft>
              <a:buFont typeface="+mj-lt"/>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Pre-processing: </a:t>
            </a:r>
            <a:r>
              <a:rPr lang="en-US" dirty="0">
                <a:latin typeface="Times New Roman" panose="02020603050405020304" pitchFamily="18" charset="0"/>
                <a:ea typeface="Calibri" panose="020F0502020204030204" charset="0"/>
                <a:cs typeface="Times New Roman" panose="02020603050405020304" pitchFamily="18" charset="0"/>
                <a:sym typeface="+mn-ea"/>
              </a:rPr>
              <a:t>Data need to be pre-processed according the models it helps to increase the accuracy of the model and better information about the data.</a:t>
            </a:r>
            <a:endParaRPr lang="en-IN" dirty="0">
              <a:latin typeface="Times New Roman" panose="02020603050405020304" pitchFamily="18" charset="0"/>
              <a:ea typeface="Calibri" panose="020F0502020204030204" charset="0"/>
              <a:cs typeface="Times New Roman" panose="02020603050405020304" pitchFamily="18" charset="0"/>
            </a:endParaRPr>
          </a:p>
          <a:p>
            <a:pPr marL="742950" lvl="1" indent="-285750" algn="just">
              <a:lnSpc>
                <a:spcPct val="150000"/>
              </a:lnSpc>
              <a:spcAft>
                <a:spcPts val="0"/>
              </a:spcAft>
              <a:buFont typeface="+mj-lt"/>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split the data: </a:t>
            </a:r>
            <a:r>
              <a:rPr lang="en-US" dirty="0">
                <a:latin typeface="Times New Roman" panose="02020603050405020304" pitchFamily="18" charset="0"/>
                <a:ea typeface="Calibri" panose="020F0502020204030204" charset="0"/>
                <a:cs typeface="Times New Roman" panose="02020603050405020304" pitchFamily="18" charset="0"/>
                <a:sym typeface="+mn-ea"/>
              </a:rPr>
              <a:t>After pre-processing the data will split into two parts as train and test data before training with the given algorithms.</a:t>
            </a:r>
            <a:endParaRPr lang="en-IN" dirty="0">
              <a:latin typeface="Times New Roman" panose="02020603050405020304" pitchFamily="18" charset="0"/>
              <a:ea typeface="Calibri" panose="020F0502020204030204" charset="0"/>
              <a:cs typeface="Times New Roman" panose="02020603050405020304" pitchFamily="18" charset="0"/>
            </a:endParaRPr>
          </a:p>
          <a:p>
            <a:pPr marL="742950" lvl="1" indent="-285750" algn="just">
              <a:lnSpc>
                <a:spcPct val="150000"/>
              </a:lnSpc>
              <a:spcAft>
                <a:spcPts val="1000"/>
              </a:spcAft>
              <a:buFont typeface="+mj-lt"/>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Model Building </a:t>
            </a:r>
            <a:r>
              <a:rPr lang="en-US" dirty="0">
                <a:latin typeface="Times New Roman" panose="02020603050405020304" pitchFamily="18" charset="0"/>
                <a:ea typeface="Calibri" panose="020F0502020204030204" charset="0"/>
                <a:cs typeface="Times New Roman" panose="02020603050405020304" pitchFamily="18" charset="0"/>
                <a:sym typeface="+mn-ea"/>
              </a:rPr>
              <a:t>To create a model that predicts the dataset with better accuracy, this module will help user.</a:t>
            </a:r>
            <a:endParaRPr lang="en-IN" dirty="0">
              <a:latin typeface="Times New Roman" panose="02020603050405020304" pitchFamily="18" charset="0"/>
              <a:ea typeface="Calibri" panose="020F0502020204030204" charset="0"/>
              <a:cs typeface="Times New Roman" panose="02020603050405020304" pitchFamily="18" charset="0"/>
            </a:endParaRPr>
          </a:p>
          <a:p>
            <a:pPr marL="742950" lvl="1" indent="-285750" algn="just">
              <a:lnSpc>
                <a:spcPct val="150000"/>
              </a:lnSpc>
              <a:spcAft>
                <a:spcPts val="1000"/>
              </a:spcAft>
              <a:buFont typeface="+mj-lt"/>
              <a:buAutoNum type="arabicPeriod"/>
            </a:pPr>
            <a:r>
              <a:rPr lang="en-US" b="1" dirty="0">
                <a:latin typeface="Times New Roman" panose="02020603050405020304" pitchFamily="18" charset="0"/>
                <a:ea typeface="Calibri" panose="020F0502020204030204" charset="0"/>
                <a:cs typeface="Times New Roman" panose="02020603050405020304" pitchFamily="18" charset="0"/>
                <a:sym typeface="+mn-ea"/>
              </a:rPr>
              <a:t>Generate Results: </a:t>
            </a:r>
            <a:r>
              <a:rPr lang="en-US" dirty="0">
                <a:latin typeface="Times New Roman" panose="02020603050405020304" pitchFamily="18" charset="0"/>
                <a:ea typeface="Calibri" panose="020F0502020204030204" charset="0"/>
                <a:cs typeface="Times New Roman" panose="02020603050405020304" pitchFamily="18" charset="0"/>
                <a:sym typeface="+mn-ea"/>
              </a:rPr>
              <a:t>We train the machine learning algorithm and predict the result.</a:t>
            </a:r>
            <a:endParaRPr lang="en-IN" dirty="0">
              <a:latin typeface="Times New Roman" panose="02020603050405020304" pitchFamily="18" charset="0"/>
              <a:cs typeface="Times New Roman" panose="02020603050405020304" pitchFamily="18" charset="0"/>
            </a:endParaRPr>
          </a:p>
          <a:p>
            <a:endParaRPr 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nSpc>
                <a:spcPct val="150000"/>
              </a:lnSpc>
            </a:pPr>
            <a:r>
              <a:rPr lang="en-IN" dirty="0">
                <a:sym typeface="+mn-ea"/>
              </a:rPr>
              <a:t>                       </a:t>
            </a:r>
            <a:r>
              <a:rPr lang="en-IN" dirty="0">
                <a:latin typeface="Times New Roman" panose="02020603050405020304" pitchFamily="18" charset="0"/>
                <a:cs typeface="Times New Roman" panose="02020603050405020304" pitchFamily="18" charset="0"/>
                <a:sym typeface="+mn-ea"/>
              </a:rPr>
              <a:t>UML DIAGRAMS</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812" y="1143000"/>
            <a:ext cx="8588375" cy="5386705"/>
          </a:xfrm>
        </p:spPr>
        <p:txBody>
          <a:bodyPr>
            <a:noAutofit/>
          </a:bodyPr>
          <a:lstStyle/>
          <a:p>
            <a:pPr>
              <a:lnSpc>
                <a:spcPct val="150000"/>
              </a:lnSpc>
            </a:pPr>
            <a:r>
              <a:rPr lang="en-US" sz="2400" b="1" u="sng" dirty="0">
                <a:latin typeface="Times New Roman" panose="02020603050405020304" pitchFamily="18" charset="0"/>
                <a:cs typeface="Times New Roman" panose="02020603050405020304" pitchFamily="18" charset="0"/>
                <a:sym typeface="+mn-ea"/>
              </a:rPr>
              <a:t>LIST OF UML DIAGRAMS:</a:t>
            </a:r>
            <a:endParaRPr lang="en-US" sz="2400" b="1" u="sng"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IN" altLang="en-US" sz="2000" dirty="0">
                <a:latin typeface="Times New Roman" panose="02020603050405020304" pitchFamily="18" charset="0"/>
                <a:cs typeface="Times New Roman" panose="02020603050405020304" pitchFamily="18" charset="0"/>
              </a:rPr>
              <a:t>ER Diagram</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Data Flow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Class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Use Case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Sequence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Collaboration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Deployment Diagram</a:t>
            </a:r>
            <a:endParaRPr lang="en-US"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sym typeface="+mn-ea"/>
              </a:rPr>
              <a:t>Activity Diagram</a:t>
            </a:r>
            <a:endParaRPr lang="en-US" sz="2000" dirty="0">
              <a:latin typeface="Times New Roman" panose="02020603050405020304" pitchFamily="18" charset="0"/>
              <a:cs typeface="Times New Roman" panose="02020603050405020304" pitchFamily="18" charset="0"/>
            </a:endParaRPr>
          </a:p>
          <a:p>
            <a:pPr marL="514350" indent="-514350">
              <a:lnSpc>
                <a:spcPct val="180000"/>
              </a:lnSpc>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nSpc>
                <a:spcPct val="180000"/>
              </a:lnSpc>
              <a:buFont typeface="+mj-lt"/>
              <a:buAutoNum type="arabicPeriod"/>
            </a:pPr>
            <a:endParaRPr lang="en-IN" altLang="en-US" sz="2000" dirty="0">
              <a:latin typeface="+mj-lt"/>
              <a:cs typeface="+mj-lt"/>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gn="just">
              <a:lnSpc>
                <a:spcPct val="150000"/>
              </a:lnSpc>
            </a:pPr>
            <a:r>
              <a:rPr lang="en-US" dirty="0">
                <a:sym typeface="+mn-ea"/>
              </a:rPr>
              <a:t>                           </a:t>
            </a:r>
            <a:r>
              <a:rPr lang="en-US" dirty="0">
                <a:latin typeface="Times New Roman" panose="02020603050405020304" pitchFamily="18" charset="0"/>
                <a:cs typeface="Times New Roman" panose="02020603050405020304" pitchFamily="18" charset="0"/>
                <a:sym typeface="+mn-ea"/>
              </a:rPr>
              <a:t>ER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723" y="1140586"/>
            <a:ext cx="8588552" cy="553998"/>
          </a:xfrm>
        </p:spPr>
        <p:txBody>
          <a:bodyPr/>
          <a:lstStyle/>
          <a:p>
            <a:r>
              <a:rPr lang="en-IN" dirty="0">
                <a:solidFill>
                  <a:srgbClr val="000000"/>
                </a:solidFill>
                <a:latin typeface="Times New Roman" panose="02020603050405020304" pitchFamily="18" charset="0"/>
                <a:ea typeface="Calibri" panose="020F0502020204030204" charset="0"/>
                <a:cs typeface="Times New Roman" panose="02020603050405020304" pitchFamily="18" charset="0"/>
                <a:sym typeface="+mn-ea"/>
              </a:rPr>
              <a:t>.</a:t>
            </a:r>
            <a:endParaRPr lang="en-IN" dirty="0">
              <a:latin typeface="Calibri" panose="020F0502020204030204" charset="0"/>
              <a:ea typeface="Calibri" panose="020F0502020204030204" charset="0"/>
              <a:cs typeface="Times New Roman" panose="02020603050405020304" pitchFamily="18" charset="0"/>
            </a:endParaRPr>
          </a:p>
          <a:p>
            <a:endParaRPr lang="en-US" dirty="0"/>
          </a:p>
        </p:txBody>
      </p:sp>
      <p:pic>
        <p:nvPicPr>
          <p:cNvPr id="5" name="Picture 4"/>
          <p:cNvPicPr/>
          <p:nvPr/>
        </p:nvPicPr>
        <p:blipFill>
          <a:blip r:embed="rId2"/>
          <a:stretch>
            <a:fillRect/>
          </a:stretch>
        </p:blipFill>
        <p:spPr>
          <a:xfrm>
            <a:off x="457200" y="1627505"/>
            <a:ext cx="7922260" cy="4356735"/>
          </a:xfrm>
          <a:prstGeom prst="rect">
            <a:avLst/>
          </a:prstGeom>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371600" y="102344"/>
            <a:ext cx="5970905" cy="1050737"/>
          </a:xfrm>
        </p:spPr>
        <p:txBody>
          <a:bodyPr/>
          <a:lstStyle/>
          <a:p>
            <a:pPr algn="ctr">
              <a:lnSpc>
                <a:spcPct val="150000"/>
              </a:lnSpc>
            </a:pPr>
            <a:r>
              <a:rPr lang="en-US" dirty="0">
                <a:sym typeface="+mn-ea"/>
              </a:rPr>
              <a:t>     </a:t>
            </a:r>
            <a:r>
              <a:rPr lang="en-US" dirty="0">
                <a:latin typeface="Times New Roman" panose="02020603050405020304" pitchFamily="18" charset="0"/>
                <a:cs typeface="Times New Roman" panose="02020603050405020304" pitchFamily="18" charset="0"/>
                <a:sym typeface="+mn-ea"/>
              </a:rPr>
              <a:t>DATA FLOW DIAGRAM</a:t>
            </a:r>
            <a:br>
              <a:rPr lang="en-US" dirty="0"/>
            </a:br>
            <a:endParaRPr lang="en-IN" dirty="0"/>
          </a:p>
        </p:txBody>
      </p:sp>
      <p:sp>
        <p:nvSpPr>
          <p:cNvPr id="12" name="Text Placeholder 11"/>
          <p:cNvSpPr>
            <a:spLocks noGrp="1"/>
          </p:cNvSpPr>
          <p:nvPr>
            <p:ph type="body" idx="1"/>
          </p:nvPr>
        </p:nvSpPr>
        <p:spPr>
          <a:xfrm>
            <a:off x="277723" y="990600"/>
            <a:ext cx="8588552" cy="553998"/>
          </a:xfrm>
        </p:spPr>
        <p:txBody>
          <a:bodyPr/>
          <a:lstStyle/>
          <a:p>
            <a:r>
              <a:rPr lang="en-IN" altLang="en-US" b="1" dirty="0">
                <a:sym typeface="+mn-ea"/>
              </a:rPr>
              <a:t>                                                         Fig : level 0</a:t>
            </a:r>
            <a:endParaRPr lang="en-IN" altLang="en-US" b="1" dirty="0"/>
          </a:p>
          <a:p>
            <a:r>
              <a:rPr lang="en-IN" dirty="0"/>
              <a:t>                       </a:t>
            </a:r>
          </a:p>
        </p:txBody>
      </p:sp>
      <p:pic>
        <p:nvPicPr>
          <p:cNvPr id="13" name="Picture 12"/>
          <p:cNvPicPr/>
          <p:nvPr/>
        </p:nvPicPr>
        <p:blipFill>
          <a:blip r:embed="rId2"/>
          <a:stretch>
            <a:fillRect/>
          </a:stretch>
        </p:blipFill>
        <p:spPr>
          <a:xfrm>
            <a:off x="380999" y="1371600"/>
            <a:ext cx="8382001" cy="5029200"/>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5"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94815"/>
          </a:xfrm>
        </p:spPr>
        <p:txBody>
          <a:bodyPr/>
          <a:lstStyle/>
          <a:p>
            <a:pPr algn="ctr">
              <a:lnSpc>
                <a:spcPct val="150000"/>
              </a:lnSpc>
            </a:pPr>
            <a:r>
              <a:rPr lang="en-US" dirty="0">
                <a:sym typeface="+mn-ea"/>
              </a:rPr>
              <a:t>   </a:t>
            </a:r>
            <a:r>
              <a:rPr lang="en-US" dirty="0">
                <a:latin typeface="Times New Roman" panose="02020603050405020304" pitchFamily="18" charset="0"/>
                <a:cs typeface="Times New Roman" panose="02020603050405020304" pitchFamily="18" charset="0"/>
                <a:sym typeface="+mn-ea"/>
              </a:rPr>
              <a:t>DATA FLOW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002030"/>
            <a:ext cx="8588375" cy="5581015"/>
          </a:xfrm>
        </p:spPr>
        <p:txBody>
          <a:bodyPr>
            <a:noAutofit/>
          </a:bodyPr>
          <a:lstStyle/>
          <a:p>
            <a:r>
              <a:rPr lang="en-IN" altLang="en-US" sz="2000" b="1"/>
              <a:t>                                                Fig:level 1</a:t>
            </a:r>
          </a:p>
        </p:txBody>
      </p:sp>
      <p:pic>
        <p:nvPicPr>
          <p:cNvPr id="5" name="Picture 4"/>
          <p:cNvPicPr/>
          <p:nvPr/>
        </p:nvPicPr>
        <p:blipFill>
          <a:blip r:embed="rId2"/>
          <a:stretch>
            <a:fillRect/>
          </a:stretch>
        </p:blipFill>
        <p:spPr>
          <a:xfrm>
            <a:off x="425450" y="1349375"/>
            <a:ext cx="8383905" cy="5017135"/>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87634"/>
          </a:xfrm>
        </p:spPr>
        <p:txBody>
          <a:bodyPr/>
          <a:lstStyle/>
          <a:p>
            <a:pPr algn="ctr">
              <a:lnSpc>
                <a:spcPct val="150000"/>
              </a:lnSpc>
            </a:pPr>
            <a:r>
              <a:rPr lang="en-US" dirty="0">
                <a:latin typeface="Times New Roman" panose="02020603050405020304" pitchFamily="18" charset="0"/>
                <a:cs typeface="Times New Roman" panose="02020603050405020304" pitchFamily="18" charset="0"/>
                <a:sym typeface="+mn-ea"/>
              </a:rPr>
              <a:t>CLASS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393190"/>
            <a:ext cx="8588375" cy="1132205"/>
          </a:xfrm>
        </p:spPr>
        <p:txBody>
          <a:bodyPr>
            <a:noAutofit/>
          </a:bodyPr>
          <a:lstStyle/>
          <a:p>
            <a:r>
              <a:rPr lang="en-US" dirty="0"/>
              <a:t>     </a:t>
            </a:r>
          </a:p>
        </p:txBody>
      </p:sp>
      <p:pic>
        <p:nvPicPr>
          <p:cNvPr id="6" name="Content Placeholder 4"/>
          <p:cNvPicPr>
            <a:picLocks noGrp="1"/>
          </p:cNvPicPr>
          <p:nvPr/>
        </p:nvPicPr>
        <p:blipFill>
          <a:blip r:embed="rId2"/>
          <a:stretch>
            <a:fillRect/>
          </a:stretch>
        </p:blipFill>
        <p:spPr>
          <a:xfrm>
            <a:off x="609600" y="1856358"/>
            <a:ext cx="7696200" cy="3706242"/>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5"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487634"/>
          </a:xfrm>
        </p:spPr>
        <p:txBody>
          <a:bodyPr/>
          <a:lstStyle/>
          <a:p>
            <a:pPr algn="ctr">
              <a:lnSpc>
                <a:spcPct val="150000"/>
              </a:lnSpc>
            </a:pPr>
            <a:r>
              <a:rPr lang="en-US" dirty="0">
                <a:latin typeface="Times New Roman" panose="02020603050405020304" pitchFamily="18" charset="0"/>
                <a:cs typeface="Times New Roman" panose="02020603050405020304" pitchFamily="18" charset="0"/>
              </a:rPr>
              <a:t>USECASE DIAGRAM</a:t>
            </a:r>
          </a:p>
        </p:txBody>
      </p:sp>
      <p:sp>
        <p:nvSpPr>
          <p:cNvPr id="3" name="Text Placeholder 2"/>
          <p:cNvSpPr>
            <a:spLocks noGrp="1"/>
          </p:cNvSpPr>
          <p:nvPr>
            <p:ph type="body" idx="1"/>
          </p:nvPr>
        </p:nvSpPr>
        <p:spPr>
          <a:xfrm>
            <a:off x="277723" y="1140586"/>
            <a:ext cx="8588552" cy="276999"/>
          </a:xfrm>
        </p:spPr>
        <p:txBody>
          <a:bodyPr/>
          <a:lstStyle/>
          <a:p>
            <a:r>
              <a:rPr lang="en-US" dirty="0"/>
              <a:t>      </a:t>
            </a:r>
          </a:p>
        </p:txBody>
      </p:sp>
      <p:pic>
        <p:nvPicPr>
          <p:cNvPr id="5" name="Picture 4"/>
          <p:cNvPicPr/>
          <p:nvPr/>
        </p:nvPicPr>
        <p:blipFill>
          <a:blip r:embed="rId2"/>
          <a:stretch>
            <a:fillRect/>
          </a:stretch>
        </p:blipFill>
        <p:spPr>
          <a:xfrm>
            <a:off x="381000" y="1295401"/>
            <a:ext cx="8229601" cy="4925060"/>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SEQUENCE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723" y="1140586"/>
            <a:ext cx="8588552" cy="276999"/>
          </a:xfrm>
        </p:spPr>
        <p:txBody>
          <a:bodyPr/>
          <a:lstStyle/>
          <a:p>
            <a:r>
              <a:rPr lang="en-US" dirty="0"/>
              <a:t>   </a:t>
            </a:r>
          </a:p>
        </p:txBody>
      </p:sp>
      <p:pic>
        <p:nvPicPr>
          <p:cNvPr id="5" name="Content Placeholder 5"/>
          <p:cNvPicPr>
            <a:picLocks noGrp="1"/>
          </p:cNvPicPr>
          <p:nvPr/>
        </p:nvPicPr>
        <p:blipFill>
          <a:blip r:embed="rId2"/>
          <a:stretch>
            <a:fillRect/>
          </a:stretch>
        </p:blipFill>
        <p:spPr>
          <a:xfrm>
            <a:off x="762000" y="1295401"/>
            <a:ext cx="7696200" cy="4800600"/>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COLLABORATION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723" y="1140586"/>
            <a:ext cx="8588552" cy="276999"/>
          </a:xfrm>
        </p:spPr>
        <p:txBody>
          <a:bodyPr/>
          <a:lstStyle/>
          <a:p>
            <a:r>
              <a:rPr lang="en-US" dirty="0"/>
              <a:t>   </a:t>
            </a:r>
          </a:p>
        </p:txBody>
      </p:sp>
      <p:pic>
        <p:nvPicPr>
          <p:cNvPr id="5" name="Content Placeholder 3"/>
          <p:cNvPicPr/>
          <p:nvPr/>
        </p:nvPicPr>
        <p:blipFill>
          <a:blip r:embed="rId2"/>
          <a:stretch>
            <a:fillRect/>
          </a:stretch>
        </p:blipFill>
        <p:spPr>
          <a:xfrm>
            <a:off x="369570" y="1511300"/>
            <a:ext cx="8321040" cy="4190365"/>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DEPLOYMENT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723" y="1140586"/>
            <a:ext cx="8588552" cy="276999"/>
          </a:xfrm>
        </p:spPr>
        <p:txBody>
          <a:bodyPr/>
          <a:lstStyle/>
          <a:p>
            <a:r>
              <a:rPr lang="en-US" dirty="0"/>
              <a:t> </a:t>
            </a:r>
          </a:p>
        </p:txBody>
      </p:sp>
      <p:pic>
        <p:nvPicPr>
          <p:cNvPr id="5" name="Picture 4"/>
          <p:cNvPicPr>
            <a:picLocks noChangeAspect="1"/>
          </p:cNvPicPr>
          <p:nvPr/>
        </p:nvPicPr>
        <p:blipFill>
          <a:blip r:embed="rId2"/>
          <a:stretch>
            <a:fillRect/>
          </a:stretch>
        </p:blipFill>
        <p:spPr>
          <a:xfrm>
            <a:off x="848360" y="1753235"/>
            <a:ext cx="7447280" cy="3588385"/>
          </a:xfrm>
          <a:prstGeom prst="rect">
            <a:avLst/>
          </a:prstGeom>
        </p:spPr>
      </p:pic>
      <p:pic>
        <p:nvPicPr>
          <p:cNvPr id="6"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IN" dirty="0">
                <a:latin typeface="Times New Roman" panose="02020603050405020304" pitchFamily="18" charset="0"/>
                <a:ea typeface="Calibri" panose="020F0502020204030204" charset="0"/>
                <a:cs typeface="Times New Roman" panose="02020603050405020304" pitchFamily="18" charset="0"/>
                <a:sym typeface="+mn-ea"/>
              </a:rPr>
              <a:t>ACTIVITY DIAGRAM:</a:t>
            </a:r>
            <a:endParaRPr lang="en-US" dirty="0"/>
          </a:p>
        </p:txBody>
      </p:sp>
      <p:sp>
        <p:nvSpPr>
          <p:cNvPr id="3" name="Text Placeholder 2"/>
          <p:cNvSpPr>
            <a:spLocks noGrp="1"/>
          </p:cNvSpPr>
          <p:nvPr>
            <p:ph type="body" idx="1"/>
          </p:nvPr>
        </p:nvSpPr>
        <p:spPr>
          <a:xfrm>
            <a:off x="277723" y="1140586"/>
            <a:ext cx="8588552" cy="276999"/>
          </a:xfrm>
        </p:spPr>
        <p:txBody>
          <a:bodyPr/>
          <a:lstStyle/>
          <a:p>
            <a:r>
              <a:rPr lang="en-US" dirty="0"/>
              <a:t>  </a:t>
            </a:r>
          </a:p>
        </p:txBody>
      </p:sp>
      <p:pic>
        <p:nvPicPr>
          <p:cNvPr id="7" name="Content Placeholder 5"/>
          <p:cNvPicPr>
            <a:picLocks noGrp="1"/>
          </p:cNvPicPr>
          <p:nvPr/>
        </p:nvPicPr>
        <p:blipFill>
          <a:blip r:embed="rId2">
            <a:extLst>
              <a:ext uri="{28A0092B-C50C-407E-A947-70E740481C1C}">
                <a14:useLocalDpi xmlns:a14="http://schemas.microsoft.com/office/drawing/2010/main" val="0"/>
              </a:ext>
            </a:extLst>
          </a:blip>
          <a:stretch>
            <a:fillRect/>
          </a:stretch>
        </p:blipFill>
        <p:spPr>
          <a:xfrm>
            <a:off x="620395" y="921385"/>
            <a:ext cx="7456805" cy="5327015"/>
          </a:xfrm>
          <a:prstGeom prst="rect">
            <a:avLst/>
          </a:prstGeom>
          <a:ln w="38100" cap="sq">
            <a:noFill/>
            <a:prstDash val="solid"/>
            <a:miter lim="800000"/>
            <a:headEnd/>
            <a:tailEnd/>
          </a:ln>
          <a:effectLst>
            <a:outerShdw blurRad="50800" dist="38100" dir="2700000" algn="tl" rotWithShape="0">
              <a:srgbClr val="000000">
                <a:alpha val="43000"/>
              </a:srgbClr>
            </a:outerShdw>
          </a:effectLst>
        </p:spPr>
      </p:pic>
      <p:pic>
        <p:nvPicPr>
          <p:cNvPr id="5"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a:latin typeface="Times New Roman" panose="02020603050405020304" pitchFamily="18" charset="0"/>
                <a:cs typeface="Times New Roman" panose="02020603050405020304" pitchFamily="18" charset="0"/>
              </a:rPr>
              <a:t>SYSTEM TESTING</a:t>
            </a:r>
          </a:p>
        </p:txBody>
      </p:sp>
      <p:sp>
        <p:nvSpPr>
          <p:cNvPr id="3" name="Text Placeholder 2"/>
          <p:cNvSpPr>
            <a:spLocks noGrp="1"/>
          </p:cNvSpPr>
          <p:nvPr>
            <p:ph type="body" idx="1"/>
          </p:nvPr>
        </p:nvSpPr>
        <p:spPr>
          <a:xfrm>
            <a:off x="228600" y="1219200"/>
            <a:ext cx="8588375" cy="5274945"/>
          </a:xfrm>
        </p:spPr>
        <p:txBody>
          <a:bodyPr>
            <a:noAutofit/>
          </a:bodyPr>
          <a:lstStyle/>
          <a:p>
            <a:pPr algn="just">
              <a:lnSpc>
                <a:spcPct val="150000"/>
              </a:lnSpc>
            </a:pPr>
            <a:r>
              <a:rPr lang="en-IN" sz="2000" b="1" u="sng" dirty="0">
                <a:latin typeface="Times New Roman" panose="02020603050405020304" pitchFamily="18" charset="0"/>
                <a:cs typeface="Times New Roman" panose="02020603050405020304" pitchFamily="18" charset="0"/>
                <a:sym typeface="+mn-ea"/>
              </a:rPr>
              <a:t>System Testing</a:t>
            </a:r>
            <a:r>
              <a:rPr lang="en-US" altLang="en-IN" sz="2000" b="1" u="sng" dirty="0">
                <a:latin typeface="Times New Roman" panose="02020603050405020304" pitchFamily="18" charset="0"/>
                <a:cs typeface="Times New Roman" panose="02020603050405020304" pitchFamily="18" charset="0"/>
                <a:sym typeface="+mn-ea"/>
              </a:rPr>
              <a:t>:</a:t>
            </a:r>
            <a:endParaRPr lang="en-IN" sz="2000" u="sng"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sym typeface="+mn-ea"/>
              </a:rPr>
              <a:t>The purpose of testing is to discover errors. Testing is the process of trying to discover every conceivable fault or weakness in a work product. </a:t>
            </a:r>
          </a:p>
          <a:p>
            <a:pPr algn="just">
              <a:lnSpc>
                <a:spcPct val="150000"/>
              </a:lnSpc>
            </a:pPr>
            <a:endParaRPr lang="en-IN" sz="2000" b="1" u="sng" dirty="0">
              <a:latin typeface="Times New Roman" panose="02020603050405020304" pitchFamily="18" charset="0"/>
              <a:cs typeface="Times New Roman" panose="02020603050405020304" pitchFamily="18" charset="0"/>
              <a:sym typeface="+mn-ea"/>
            </a:endParaRPr>
          </a:p>
          <a:p>
            <a:pPr algn="just">
              <a:lnSpc>
                <a:spcPct val="150000"/>
              </a:lnSpc>
            </a:pPr>
            <a:r>
              <a:rPr lang="en-IN" sz="2000" b="1" u="sng" dirty="0">
                <a:latin typeface="Times New Roman" panose="02020603050405020304" pitchFamily="18" charset="0"/>
                <a:cs typeface="Times New Roman" panose="02020603050405020304" pitchFamily="18" charset="0"/>
                <a:sym typeface="+mn-ea"/>
              </a:rPr>
              <a:t>Types of Tests</a:t>
            </a:r>
            <a:r>
              <a:rPr lang="en-US" altLang="en-IN" sz="2000" b="1" u="sng" dirty="0">
                <a:latin typeface="Times New Roman" panose="02020603050405020304" pitchFamily="18" charset="0"/>
                <a:cs typeface="Times New Roman" panose="02020603050405020304" pitchFamily="18" charset="0"/>
                <a:sym typeface="+mn-ea"/>
              </a:rPr>
              <a:t>:</a:t>
            </a:r>
            <a:endParaRPr lang="en-IN" sz="2000" i="1" u="sng" dirty="0">
              <a:latin typeface="Times New Roman" panose="02020603050405020304" pitchFamily="18" charset="0"/>
              <a:cs typeface="Times New Roman" panose="02020603050405020304" pitchFamily="18" charset="0"/>
            </a:endParaRPr>
          </a:p>
          <a:p>
            <a:pPr algn="just">
              <a:lnSpc>
                <a:spcPct val="150000"/>
              </a:lnSpc>
            </a:pPr>
            <a:r>
              <a:rPr lang="en-US" altLang="en-IN" b="1" dirty="0">
                <a:latin typeface="Times New Roman" panose="02020603050405020304" pitchFamily="18" charset="0"/>
                <a:cs typeface="Times New Roman" panose="02020603050405020304" pitchFamily="18" charset="0"/>
                <a:sym typeface="+mn-ea"/>
              </a:rPr>
              <a:t>1.</a:t>
            </a:r>
            <a:r>
              <a:rPr lang="en-IN" b="1" dirty="0">
                <a:latin typeface="Times New Roman" panose="02020603050405020304" pitchFamily="18" charset="0"/>
                <a:cs typeface="Times New Roman" panose="02020603050405020304" pitchFamily="18" charset="0"/>
                <a:sym typeface="+mn-ea"/>
              </a:rPr>
              <a:t>Unit testing</a:t>
            </a:r>
            <a:endParaRPr lang="en-IN" i="1"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sym typeface="+mn-ea"/>
              </a:rPr>
              <a:t>Unit testing involves the design of test cases that validate that the internal program logic is functioning properly, and that program inputs produce valid outputs. All decision branches and internal code flow should be validated. </a:t>
            </a:r>
            <a:endParaRPr lang="en-US" altLang="en-IN" dirty="0">
              <a:latin typeface="Times New Roman" panose="02020603050405020304" pitchFamily="18" charset="0"/>
              <a:cs typeface="Times New Roman" panose="02020603050405020304" pitchFamily="18" charset="0"/>
              <a:sym typeface="+mn-ea"/>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a:latin typeface="Times New Roman" panose="02020603050405020304" pitchFamily="18" charset="0"/>
                <a:cs typeface="Times New Roman" panose="02020603050405020304" pitchFamily="18" charset="0"/>
              </a:rPr>
              <a:t>SYSTEM TESTING</a:t>
            </a:r>
          </a:p>
        </p:txBody>
      </p:sp>
      <p:sp>
        <p:nvSpPr>
          <p:cNvPr id="3" name="Text Placeholder 2"/>
          <p:cNvSpPr>
            <a:spLocks noGrp="1"/>
          </p:cNvSpPr>
          <p:nvPr>
            <p:ph type="body" idx="1"/>
          </p:nvPr>
        </p:nvSpPr>
        <p:spPr>
          <a:xfrm>
            <a:off x="304800" y="882015"/>
            <a:ext cx="8588375" cy="5792470"/>
          </a:xfrm>
        </p:spPr>
        <p:txBody>
          <a:bodyPr>
            <a:noAutofit/>
          </a:bodyPr>
          <a:lstStyle/>
          <a:p>
            <a:pPr algn="just">
              <a:lnSpc>
                <a:spcPct val="140000"/>
              </a:lnSpc>
            </a:pPr>
            <a:r>
              <a:rPr lang="en-US" altLang="en-IN" b="1" dirty="0">
                <a:sym typeface="+mn-ea"/>
              </a:rPr>
              <a:t>2.</a:t>
            </a:r>
            <a:r>
              <a:rPr lang="en-IN" b="1" dirty="0">
                <a:sym typeface="+mn-ea"/>
              </a:rPr>
              <a:t>Integration testing</a:t>
            </a:r>
            <a:endParaRPr lang="en-IN" dirty="0"/>
          </a:p>
          <a:p>
            <a:pPr algn="just">
              <a:lnSpc>
                <a:spcPct val="140000"/>
              </a:lnSpc>
            </a:pPr>
            <a:r>
              <a:rPr lang="en-IN" dirty="0">
                <a:sym typeface="+mn-ea"/>
              </a:rPr>
              <a:t>Integration tests are designed to test integrated software components to determine if they actually run as one program.  Testing is event driven and is more concerned with the basic outcome of screens or fields. </a:t>
            </a:r>
          </a:p>
          <a:p>
            <a:pPr algn="just">
              <a:lnSpc>
                <a:spcPct val="140000"/>
              </a:lnSpc>
            </a:pPr>
            <a:r>
              <a:rPr lang="en-IN" b="1" dirty="0">
                <a:sym typeface="+mn-ea"/>
              </a:rPr>
              <a:t>Test Results: </a:t>
            </a:r>
            <a:r>
              <a:rPr lang="en-IN" dirty="0">
                <a:sym typeface="+mn-ea"/>
              </a:rPr>
              <a:t>All the test cases mentioned above passed successfully. No defects encountered.</a:t>
            </a:r>
            <a:endParaRPr lang="en-IN" dirty="0"/>
          </a:p>
          <a:p>
            <a:pPr algn="just">
              <a:lnSpc>
                <a:spcPct val="140000"/>
              </a:lnSpc>
            </a:pPr>
            <a:r>
              <a:rPr lang="en-US" altLang="en-IN" b="1" dirty="0">
                <a:sym typeface="+mn-ea"/>
              </a:rPr>
              <a:t>3.</a:t>
            </a:r>
            <a:r>
              <a:rPr lang="en-IN" b="1" dirty="0">
                <a:sym typeface="+mn-ea"/>
              </a:rPr>
              <a:t>Acceptance Testing</a:t>
            </a:r>
            <a:endParaRPr lang="en-IN" dirty="0"/>
          </a:p>
          <a:p>
            <a:pPr algn="just">
              <a:lnSpc>
                <a:spcPct val="140000"/>
              </a:lnSpc>
            </a:pPr>
            <a:r>
              <a:rPr lang="en-IN" dirty="0">
                <a:sym typeface="+mn-ea"/>
              </a:rPr>
              <a:t>User Acceptance Testing is a critical phase of any project and requires significant participation by the end user. It also ensures that the system meets the functional requirements.</a:t>
            </a:r>
            <a:endParaRPr lang="en-IN" dirty="0"/>
          </a:p>
          <a:p>
            <a:pPr algn="just">
              <a:lnSpc>
                <a:spcPct val="140000"/>
              </a:lnSpc>
            </a:pPr>
            <a:r>
              <a:rPr lang="en-IN" b="1" dirty="0">
                <a:sym typeface="+mn-ea"/>
              </a:rPr>
              <a:t>Test Results: </a:t>
            </a:r>
            <a:r>
              <a:rPr lang="en-IN" dirty="0">
                <a:sym typeface="+mn-ea"/>
              </a:rPr>
              <a:t>All the test cases mentioned above passed successfully. No defects encountered.</a:t>
            </a:r>
            <a:endParaRPr lang="en-IN" dirty="0"/>
          </a:p>
          <a:p>
            <a:pPr algn="just">
              <a:lnSpc>
                <a:spcPct val="140000"/>
              </a:lnSpc>
            </a:pPr>
            <a:endParaRPr lang="en-IN" dirty="0"/>
          </a:p>
          <a:p>
            <a:pPr>
              <a:lnSpc>
                <a:spcPct val="140000"/>
              </a:lnSpc>
            </a:pPr>
            <a:endParaRPr lang="en-US" dirty="0"/>
          </a:p>
        </p:txBody>
      </p:sp>
      <p:pic>
        <p:nvPicPr>
          <p:cNvPr id="4"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rPr>
              <a:t>SYSTEM TESTING</a:t>
            </a:r>
          </a:p>
        </p:txBody>
      </p:sp>
      <p:sp>
        <p:nvSpPr>
          <p:cNvPr id="3" name="Text Placeholder 2"/>
          <p:cNvSpPr>
            <a:spLocks noGrp="1"/>
          </p:cNvSpPr>
          <p:nvPr>
            <p:ph type="body" idx="1"/>
          </p:nvPr>
        </p:nvSpPr>
        <p:spPr>
          <a:xfrm>
            <a:off x="277495" y="1140460"/>
            <a:ext cx="8588375" cy="4970145"/>
          </a:xfrm>
        </p:spPr>
        <p:txBody>
          <a:bodyPr>
            <a:noAutofit/>
          </a:bodyPr>
          <a:lstStyle/>
          <a:p>
            <a:pPr marL="285750" indent="-285750" algn="just">
              <a:lnSpc>
                <a:spcPct val="180000"/>
              </a:lnSpc>
              <a:buFont typeface="Arial" panose="020B0604020202020204" pitchFamily="34" charset="0"/>
              <a:buChar char="•"/>
            </a:pPr>
            <a:r>
              <a:rPr lang="en-IN" b="1" dirty="0">
                <a:sym typeface="+mn-ea"/>
              </a:rPr>
              <a:t>White Box Testing</a:t>
            </a:r>
            <a:endParaRPr lang="en-IN" i="1" dirty="0"/>
          </a:p>
          <a:p>
            <a:pPr algn="just">
              <a:lnSpc>
                <a:spcPct val="180000"/>
              </a:lnSpc>
            </a:pPr>
            <a:r>
              <a:rPr lang="en-IN" dirty="0">
                <a:sym typeface="+mn-ea"/>
              </a:rPr>
              <a:t>White Box Testing is a testing in which in which the software tester has knowledge of the inner workings, structure and language of the software, or at least its purpose. It is purpose. It is used to test areas that cannot be reached from a black box level.</a:t>
            </a:r>
            <a:endParaRPr lang="en-IN" dirty="0"/>
          </a:p>
          <a:p>
            <a:pPr marL="285750" indent="-285750" algn="just">
              <a:lnSpc>
                <a:spcPct val="180000"/>
              </a:lnSpc>
              <a:buFont typeface="Arial" panose="020B0604020202020204" pitchFamily="34" charset="0"/>
              <a:buChar char="•"/>
            </a:pPr>
            <a:r>
              <a:rPr lang="en-IN" b="1" dirty="0">
                <a:sym typeface="+mn-ea"/>
              </a:rPr>
              <a:t>Black Box Testing</a:t>
            </a:r>
            <a:endParaRPr lang="en-IN" i="1" dirty="0"/>
          </a:p>
          <a:p>
            <a:pPr algn="just">
              <a:lnSpc>
                <a:spcPct val="180000"/>
              </a:lnSpc>
            </a:pPr>
            <a:r>
              <a:rPr lang="en-IN" dirty="0">
                <a:sym typeface="+mn-ea"/>
              </a:rPr>
              <a:t>Black Box Testing is testing the software without any knowledge of the inner workings, structure or language of the module being tested. It is a testing in which the software under test is treated, as a black box. you cannot “see” into it.</a:t>
            </a:r>
            <a:endParaRPr 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SCREEN SHOTS</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723" y="1140586"/>
            <a:ext cx="8588552" cy="3877945"/>
          </a:xfrm>
        </p:spPr>
        <p:txBody>
          <a:bodyPr/>
          <a:lstStyle/>
          <a:p>
            <a:r>
              <a:rPr lang="en-US" altLang="en-US" dirty="0"/>
              <a:t>    </a:t>
            </a:r>
            <a:r>
              <a:rPr lang="en-US" altLang="en-US" b="1" dirty="0"/>
              <a:t>Fig:1     </a:t>
            </a:r>
            <a:r>
              <a:rPr lang="en-US" altLang="en-US" dirty="0"/>
              <a:t>Home page: This is You tube Spam Detection home page.</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b="1" dirty="0"/>
              <a:t>    Fig:2      </a:t>
            </a:r>
            <a:r>
              <a:rPr lang="en-US" altLang="en-US" dirty="0"/>
              <a:t>Register Page: User need register with his/her credentials.</a:t>
            </a:r>
          </a:p>
          <a:p>
            <a:endParaRPr lang="en-US" altLang="en-US" dirty="0"/>
          </a:p>
          <a:p>
            <a:endParaRPr lang="en-US" altLang="en-US" dirty="0"/>
          </a:p>
          <a:p>
            <a:endParaRPr lang="en-US" altLang="en-US" dirty="0"/>
          </a:p>
          <a:p>
            <a:endParaRPr lang="en-US" alt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pic>
        <p:nvPicPr>
          <p:cNvPr id="264490310" name="Picture 2644903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3595" y="1447800"/>
            <a:ext cx="6635115" cy="2025650"/>
          </a:xfrm>
          <a:prstGeom prst="rect">
            <a:avLst/>
          </a:prstGeom>
          <a:noFill/>
          <a:ln>
            <a:noFill/>
          </a:ln>
        </p:spPr>
      </p:pic>
      <p:pic>
        <p:nvPicPr>
          <p:cNvPr id="264490309" name="Picture 2644903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823595" y="3962400"/>
            <a:ext cx="6634480" cy="24288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9332"/>
          </a:xfrm>
        </p:spPr>
        <p:txBody>
          <a:bodyPr/>
          <a:lstStyle/>
          <a:p>
            <a:pPr algn="ctr"/>
            <a:r>
              <a:rPr lang="en-US" dirty="0">
                <a:latin typeface="Times New Roman" panose="02020603050405020304" pitchFamily="18" charset="0"/>
                <a:cs typeface="Times New Roman" panose="02020603050405020304" pitchFamily="18" charset="0"/>
              </a:rPr>
              <a:t>SCREEN SHOTS</a:t>
            </a:r>
          </a:p>
        </p:txBody>
      </p:sp>
      <p:sp>
        <p:nvSpPr>
          <p:cNvPr id="3" name="Text Placeholder 2"/>
          <p:cNvSpPr>
            <a:spLocks noGrp="1"/>
          </p:cNvSpPr>
          <p:nvPr>
            <p:ph type="body" idx="1"/>
          </p:nvPr>
        </p:nvSpPr>
        <p:spPr>
          <a:xfrm>
            <a:off x="277723" y="1140586"/>
            <a:ext cx="8588552" cy="3877945"/>
          </a:xfrm>
        </p:spPr>
        <p:txBody>
          <a:bodyPr/>
          <a:lstStyle/>
          <a:p>
            <a:r>
              <a:rPr lang="en-US" altLang="en-US" dirty="0"/>
              <a:t>   </a:t>
            </a:r>
            <a:r>
              <a:rPr lang="en-US" altLang="en-US" b="1" dirty="0"/>
              <a:t>Fig:3  </a:t>
            </a:r>
            <a:r>
              <a:rPr lang="en-US" altLang="en-US" dirty="0"/>
              <a:t>Login page: Here the user will login with his credentials.</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  </a:t>
            </a:r>
            <a:r>
              <a:rPr lang="en-US" altLang="en-US" b="1" dirty="0"/>
              <a:t>Fig:4  </a:t>
            </a:r>
            <a:r>
              <a:rPr lang="en-US" altLang="en-US" dirty="0"/>
              <a:t>User home page: After the user login this home page will display.</a:t>
            </a:r>
          </a:p>
          <a:p>
            <a:endParaRPr lang="en-US" altLang="en-US" dirty="0"/>
          </a:p>
          <a:p>
            <a:endParaRPr lang="en-US" altLang="en-US" dirty="0"/>
          </a:p>
          <a:p>
            <a:endParaRPr lang="en-US" altLang="en-US" dirty="0"/>
          </a:p>
        </p:txBody>
      </p:sp>
      <p:pic>
        <p:nvPicPr>
          <p:cNvPr id="264490308" name="Picture 2644903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60095" y="1507490"/>
            <a:ext cx="6949440" cy="2067560"/>
          </a:xfrm>
          <a:prstGeom prst="rect">
            <a:avLst/>
          </a:prstGeom>
          <a:noFill/>
          <a:ln>
            <a:noFill/>
          </a:ln>
        </p:spPr>
      </p:pic>
      <p:pic>
        <p:nvPicPr>
          <p:cNvPr id="264490307" name="Picture 2644903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60730" y="4191000"/>
            <a:ext cx="6949440" cy="2274570"/>
          </a:xfrm>
          <a:prstGeom prst="rect">
            <a:avLst/>
          </a:prstGeom>
          <a:noFill/>
          <a:ln>
            <a:noFill/>
          </a:ln>
        </p:spPr>
      </p:pic>
      <p:pic>
        <p:nvPicPr>
          <p:cNvPr id="5" name="Content Placeholder 4"/>
          <p:cNvPicPr>
            <a:picLocks noChangeAspect="1"/>
          </p:cNvPicPr>
          <p:nvPr/>
        </p:nvPicPr>
        <p:blipFill>
          <a:blip r:embed="rId4"/>
          <a:stretch>
            <a:fillRect/>
          </a:stretch>
        </p:blipFill>
        <p:spPr>
          <a:xfrm>
            <a:off x="0" y="0"/>
            <a:ext cx="1115695" cy="8502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9332"/>
          </a:xfrm>
        </p:spPr>
        <p:txBody>
          <a:bodyPr/>
          <a:lstStyle/>
          <a:p>
            <a:pPr algn="ctr"/>
            <a:r>
              <a:rPr lang="en-US" dirty="0">
                <a:latin typeface="Times New Roman" panose="02020603050405020304" pitchFamily="18" charset="0"/>
                <a:cs typeface="Times New Roman" panose="02020603050405020304" pitchFamily="18" charset="0"/>
              </a:rPr>
              <a:t>SCREEN SHOTS</a:t>
            </a:r>
          </a:p>
        </p:txBody>
      </p:sp>
      <p:sp>
        <p:nvSpPr>
          <p:cNvPr id="3" name="Text Placeholder 2"/>
          <p:cNvSpPr>
            <a:spLocks noGrp="1"/>
          </p:cNvSpPr>
          <p:nvPr>
            <p:ph type="body" idx="1"/>
          </p:nvPr>
        </p:nvSpPr>
        <p:spPr>
          <a:xfrm>
            <a:off x="277495" y="1140460"/>
            <a:ext cx="8588375" cy="5559425"/>
          </a:xfrm>
        </p:spPr>
        <p:txBody>
          <a:bodyPr>
            <a:noAutofit/>
          </a:bodyPr>
          <a:lstStyle/>
          <a:p>
            <a:r>
              <a:rPr lang="en-US" altLang="en-US" dirty="0"/>
              <a:t>  </a:t>
            </a:r>
            <a:r>
              <a:rPr lang="en-US" altLang="en-US" b="1" dirty="0"/>
              <a:t>Fig:5</a:t>
            </a:r>
            <a:r>
              <a:rPr lang="en-US" altLang="en-US" dirty="0"/>
              <a:t>  User need to enter input based on selecting model, it will predict whether it spam or   </a:t>
            </a:r>
          </a:p>
          <a:p>
            <a:r>
              <a:rPr lang="en-US" altLang="en-US" dirty="0"/>
              <a:t>             not.</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   </a:t>
            </a:r>
            <a:r>
              <a:rPr lang="en-US" altLang="en-US" b="1" dirty="0"/>
              <a:t>Fig:6  </a:t>
            </a:r>
            <a:r>
              <a:rPr lang="en-US" altLang="en-US" dirty="0"/>
              <a:t>  Result page: In this page result will display.</a:t>
            </a:r>
          </a:p>
          <a:p>
            <a:r>
              <a:rPr lang="en-IN" altLang="en-US" dirty="0"/>
              <a:t>                </a:t>
            </a:r>
            <a:r>
              <a:rPr lang="en-US" altLang="en-US" dirty="0"/>
              <a:t>Prediction: Spam Content</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pic>
        <p:nvPicPr>
          <p:cNvPr id="264490306" name="Picture 2644903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93750" y="1680210"/>
            <a:ext cx="7238365" cy="1948180"/>
          </a:xfrm>
          <a:prstGeom prst="rect">
            <a:avLst/>
          </a:prstGeom>
          <a:noFill/>
          <a:ln>
            <a:noFill/>
          </a:ln>
        </p:spPr>
      </p:pic>
      <p:pic>
        <p:nvPicPr>
          <p:cNvPr id="264490305" name="Picture 2644903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93115" y="4215765"/>
            <a:ext cx="7239635" cy="2308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SCREEN SHOTS</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140460"/>
            <a:ext cx="8588375" cy="5299710"/>
          </a:xfrm>
        </p:spPr>
        <p:txBody>
          <a:bodyPr>
            <a:noAutofit/>
          </a:bodyPr>
          <a:lstStyle/>
          <a:p>
            <a:r>
              <a:rPr lang="en-US" altLang="en-US" b="1" dirty="0">
                <a:latin typeface="Times New Roman" panose="02020603050405020304" pitchFamily="18" charset="0"/>
                <a:cs typeface="Times New Roman" panose="02020603050405020304" pitchFamily="18" charset="0"/>
              </a:rPr>
              <a:t>Fig:7  </a:t>
            </a:r>
            <a:r>
              <a:rPr lang="en-US" altLang="en-US" dirty="0">
                <a:latin typeface="Times New Roman" panose="02020603050405020304" pitchFamily="18" charset="0"/>
                <a:cs typeface="Times New Roman" panose="02020603050405020304" pitchFamily="18" charset="0"/>
              </a:rPr>
              <a:t>Prediction: No Spam Content</a:t>
            </a:r>
          </a:p>
          <a:p>
            <a:endParaRPr lang="en-US" altLang="en-US" dirty="0">
              <a:latin typeface="Times New Roman" panose="02020603050405020304" pitchFamily="18" charset="0"/>
              <a:cs typeface="Times New Roman" panose="02020603050405020304" pitchFamily="18" charset="0"/>
            </a:endParaRPr>
          </a:p>
          <a:p>
            <a:endParaRPr lang="en-US" altLang="en-US" dirty="0"/>
          </a:p>
        </p:txBody>
      </p:sp>
      <p:pic>
        <p:nvPicPr>
          <p:cNvPr id="264490304" name="Picture 2644903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81965" y="1644650"/>
            <a:ext cx="7659370" cy="4241165"/>
          </a:xfrm>
          <a:prstGeom prst="rect">
            <a:avLst/>
          </a:prstGeom>
          <a:noFill/>
          <a:ln>
            <a:noFill/>
          </a:ln>
        </p:spPr>
      </p:pic>
      <p:pic>
        <p:nvPicPr>
          <p:cNvPr id="5" name="Content Placeholder 4"/>
          <p:cNvPicPr>
            <a:picLocks noChangeAspect="1"/>
          </p:cNvPicPr>
          <p:nvPr/>
        </p:nvPicPr>
        <p:blipFill>
          <a:blip r:embed="rId3"/>
          <a:stretch>
            <a:fillRect/>
          </a:stretch>
        </p:blipFill>
        <p:spPr>
          <a:xfrm>
            <a:off x="0" y="0"/>
            <a:ext cx="1115695" cy="8502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Times New Roman" panose="02020603050405020304" pitchFamily="18" charset="0"/>
                <a:cs typeface="Times New Roman" panose="02020603050405020304" pitchFamily="18" charset="0"/>
                <a:sym typeface="+mn-ea"/>
              </a:rPr>
              <a:t>CONCLUSION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77495" y="1140460"/>
            <a:ext cx="8588375" cy="5473065"/>
          </a:xfrm>
        </p:spPr>
        <p:txBody>
          <a:bodyPr>
            <a:noAutofit/>
          </a:bodyPr>
          <a:lstStyle/>
          <a:p>
            <a:pPr marL="285750" indent="-285750" algn="just">
              <a:lnSpc>
                <a:spcPct val="150000"/>
              </a:lnSpc>
              <a:buFont typeface="Wingdings" panose="05000000000000000000" charset="0"/>
              <a:buChar char="Ø"/>
            </a:pPr>
            <a:r>
              <a:rPr lang="en-US" sz="2000" dirty="0">
                <a:latin typeface="Times New Roman" panose="02020603050405020304" pitchFamily="18" charset="0"/>
                <a:ea typeface="SimSun" panose="02010600030101010101" pitchFamily="2" charset="-122"/>
                <a:cs typeface="Times New Roman" panose="02020603050405020304" pitchFamily="18" charset="0"/>
                <a:sym typeface="+mn-ea"/>
              </a:rPr>
              <a:t>In conclusion, the YouTube Spam Comment Identification system effectively addresses the challenge of detecting and filtering out harmful spam content. </a:t>
            </a:r>
          </a:p>
          <a:p>
            <a:pPr marL="285750" indent="-285750" algn="just">
              <a:lnSpc>
                <a:spcPct val="150000"/>
              </a:lnSpc>
              <a:buFont typeface="Wingdings" panose="05000000000000000000" charset="0"/>
              <a:buChar char="Ø"/>
            </a:pPr>
            <a:endParaRPr lang="en-US" sz="2000" dirty="0">
              <a:latin typeface="Times New Roman" panose="02020603050405020304" pitchFamily="18" charset="0"/>
              <a:ea typeface="SimSun" panose="02010600030101010101" pitchFamily="2" charset="-122"/>
              <a:cs typeface="Times New Roman" panose="02020603050405020304" pitchFamily="18" charset="0"/>
              <a:sym typeface="+mn-ea"/>
            </a:endParaRPr>
          </a:p>
          <a:p>
            <a:pPr marL="285750" indent="-285750" algn="just">
              <a:lnSpc>
                <a:spcPct val="150000"/>
              </a:lnSpc>
              <a:buFont typeface="Wingdings" panose="05000000000000000000" charset="0"/>
              <a:buChar char="Ø"/>
            </a:pPr>
            <a:r>
              <a:rPr lang="en-US" sz="2000" dirty="0">
                <a:latin typeface="Times New Roman" panose="02020603050405020304" pitchFamily="18" charset="0"/>
                <a:ea typeface="SimSun" panose="02010600030101010101" pitchFamily="2" charset="-122"/>
                <a:cs typeface="Times New Roman" panose="02020603050405020304" pitchFamily="18" charset="0"/>
                <a:sym typeface="+mn-ea"/>
              </a:rPr>
              <a:t>The proposed classifiers, including naive </a:t>
            </a:r>
            <a:r>
              <a:rPr lang="en-US" sz="2000" dirty="0" err="1">
                <a:latin typeface="Times New Roman" panose="02020603050405020304" pitchFamily="18" charset="0"/>
                <a:ea typeface="SimSun" panose="02010600030101010101" pitchFamily="2" charset="-122"/>
                <a:cs typeface="Times New Roman" panose="02020603050405020304" pitchFamily="18" charset="0"/>
                <a:sym typeface="+mn-ea"/>
              </a:rPr>
              <a:t>bayes</a:t>
            </a:r>
            <a:r>
              <a:rPr lang="en-US" sz="2000" dirty="0">
                <a:latin typeface="Times New Roman" panose="02020603050405020304" pitchFamily="18" charset="0"/>
                <a:ea typeface="SimSun" panose="02010600030101010101" pitchFamily="2" charset="-122"/>
                <a:cs typeface="Times New Roman" panose="02020603050405020304" pitchFamily="18" charset="0"/>
                <a:sym typeface="+mn-ea"/>
              </a:rPr>
              <a:t>, Decision tree, MLP classifier, </a:t>
            </a:r>
            <a:r>
              <a:rPr lang="en-US" sz="2000" dirty="0" err="1">
                <a:latin typeface="Times New Roman" panose="02020603050405020304" pitchFamily="18" charset="0"/>
                <a:ea typeface="SimSun" panose="02010600030101010101" pitchFamily="2" charset="-122"/>
                <a:cs typeface="Times New Roman" panose="02020603050405020304" pitchFamily="18" charset="0"/>
                <a:sym typeface="+mn-ea"/>
              </a:rPr>
              <a:t>Adaboost</a:t>
            </a:r>
            <a:r>
              <a:rPr lang="en-US" sz="2000" dirty="0">
                <a:latin typeface="Times New Roman" panose="02020603050405020304" pitchFamily="18" charset="0"/>
                <a:ea typeface="SimSun" panose="02010600030101010101" pitchFamily="2" charset="-122"/>
                <a:cs typeface="Times New Roman" panose="02020603050405020304" pitchFamily="18" charset="0"/>
                <a:sym typeface="+mn-ea"/>
              </a:rPr>
              <a:t>, show promise in improving accuracy and efficiency over traditional models. </a:t>
            </a:r>
          </a:p>
          <a:p>
            <a:pPr marL="285750" indent="-285750" algn="just">
              <a:lnSpc>
                <a:spcPct val="150000"/>
              </a:lnSpc>
              <a:buFont typeface="Wingdings" panose="05000000000000000000" charset="0"/>
              <a:buChar char="Ø"/>
            </a:pPr>
            <a:endParaRPr lang="en-US" sz="2000" dirty="0">
              <a:latin typeface="Times New Roman" panose="02020603050405020304" pitchFamily="18" charset="0"/>
              <a:ea typeface="SimSun" panose="02010600030101010101" pitchFamily="2" charset="-122"/>
              <a:cs typeface="Times New Roman" panose="02020603050405020304" pitchFamily="18" charset="0"/>
              <a:sym typeface="+mn-ea"/>
            </a:endParaRPr>
          </a:p>
          <a:p>
            <a:pPr marL="285750" indent="-285750" algn="just">
              <a:lnSpc>
                <a:spcPct val="150000"/>
              </a:lnSpc>
              <a:buFont typeface="Wingdings" panose="05000000000000000000" charset="0"/>
              <a:buChar char="Ø"/>
            </a:pPr>
            <a:r>
              <a:rPr lang="en-US" sz="2000" dirty="0">
                <a:latin typeface="Times New Roman" panose="02020603050405020304" pitchFamily="18" charset="0"/>
                <a:ea typeface="SimSun" panose="02010600030101010101" pitchFamily="2" charset="-122"/>
                <a:cs typeface="Times New Roman" panose="02020603050405020304" pitchFamily="18" charset="0"/>
                <a:sym typeface="+mn-ea"/>
              </a:rPr>
              <a:t>With further optimization and real-time implementation, the system can be a valuable tool for ensuring a safer, more engaging online environment.</a:t>
            </a:r>
            <a:endParaRPr lang="en-US" sz="2000" dirty="0">
              <a:latin typeface="Times New Roman" panose="02020603050405020304" pitchFamily="18" charset="0"/>
              <a:cs typeface="Times New Roman" panose="02020603050405020304" pitchFamily="18" charset="0"/>
            </a:endParaRPr>
          </a:p>
          <a:p>
            <a:pPr marL="285750" indent="-285750">
              <a:lnSpc>
                <a:spcPct val="170000"/>
              </a:lnSpc>
              <a:buFont typeface="Wingdings" panose="05000000000000000000" charset="0"/>
              <a:buChar char="Ø"/>
            </a:pPr>
            <a:endParaRPr lang="en-US" sz="2000" dirty="0">
              <a:latin typeface="Times New Roman" panose="02020603050405020304" pitchFamily="18" charset="0"/>
              <a:cs typeface="Times New Roman" panose="02020603050405020304" pitchFamily="18" charset="0"/>
            </a:endParaRPr>
          </a:p>
        </p:txBody>
      </p:sp>
      <p:pic>
        <p:nvPicPr>
          <p:cNvPr id="4" name="object 3"/>
          <p:cNvPicPr/>
          <p:nvPr/>
        </p:nvPicPr>
        <p:blipFill>
          <a:blip r:embed="rId2" cstate="print"/>
          <a:stretch>
            <a:fillRect/>
          </a:stretch>
        </p:blipFill>
        <p:spPr>
          <a:xfrm>
            <a:off x="0" y="21335"/>
            <a:ext cx="1117092" cy="90068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Segoe UI" panose="020B0502040204020203" pitchFamily="34" charset="0"/>
                <a:cs typeface="Segoe UI" panose="020B0502040204020203" pitchFamily="34" charset="0"/>
                <a:sym typeface="+mn-ea"/>
              </a:rPr>
              <a:t>REFERENCES</a:t>
            </a:r>
            <a:endParaRPr lang="en-US" dirty="0"/>
          </a:p>
        </p:txBody>
      </p:sp>
      <p:sp>
        <p:nvSpPr>
          <p:cNvPr id="3" name="Text Placeholder 2"/>
          <p:cNvSpPr>
            <a:spLocks noGrp="1"/>
          </p:cNvSpPr>
          <p:nvPr>
            <p:ph type="body" idx="1"/>
          </p:nvPr>
        </p:nvSpPr>
        <p:spPr>
          <a:xfrm>
            <a:off x="243840" y="1219200"/>
            <a:ext cx="8622030" cy="5451475"/>
          </a:xfrm>
        </p:spPr>
        <p:txBody>
          <a:bodyPr>
            <a:noAutofit/>
          </a:bodyPr>
          <a:lstStyle/>
          <a:p>
            <a:pPr marL="285750" indent="-285750" algn="just">
              <a:lnSpc>
                <a:spcPct val="17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Yadav, S., &amp; others. (2025). Spam Detection in YouTube Comments: A Machine Learning Approach. ResearchGate.</a:t>
            </a:r>
          </a:p>
          <a:p>
            <a:pPr marL="285750" indent="-285750" algn="just">
              <a:lnSpc>
                <a:spcPct val="17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Xiao, A. S., &amp; others. (2024). Spam Detection for YouTube Video Comments Using Machine Learning Approaches. ResearchGate.</a:t>
            </a:r>
          </a:p>
          <a:p>
            <a:pPr marL="285750" indent="-285750" algn="just">
              <a:lnSpc>
                <a:spcPct val="17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Feng, W., &amp; others. (2016). A Support Vector Machine Based Naive Bayes Algorithm for Spam Filtering. ResearchGate.</a:t>
            </a:r>
          </a:p>
          <a:p>
            <a:pPr marL="285750" indent="-285750" algn="just">
              <a:lnSpc>
                <a:spcPct val="17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Singh, S. (2018). SMS Spam Detection Using Different ML Models: Multinomial Naive Bayes, Support Vector Machine, K-Nearest Neighbors, Random Forest, and AdaBoost. GitHub.</a:t>
            </a:r>
          </a:p>
          <a:p>
            <a:pPr marL="285750" indent="-285750" algn="just">
              <a:lnSpc>
                <a:spcPct val="17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rPr>
              <a:t>Jain, A. (2020). Build SMS Spam Classification Model Using Naive Bayes &amp; Random Forest. Towards Data Science.</a:t>
            </a:r>
          </a:p>
          <a:p>
            <a:pPr indent="0">
              <a:lnSpc>
                <a:spcPct val="170000"/>
              </a:lnSpc>
              <a:buFont typeface="Wingdings" panose="05000000000000000000" charset="0"/>
              <a:buNone/>
            </a:pPr>
            <a:endParaRPr lang="en-US" altLang="en-US"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94" y="89915"/>
            <a:ext cx="5970905" cy="368935"/>
          </a:xfrm>
        </p:spPr>
        <p:txBody>
          <a:bodyPr/>
          <a:lstStyle/>
          <a:p>
            <a:pPr algn="ctr"/>
            <a:r>
              <a:rPr lang="en-US" dirty="0">
                <a:latin typeface="Segoe UI" panose="020B0502040204020203" pitchFamily="34" charset="0"/>
                <a:cs typeface="Segoe UI" panose="020B0502040204020203" pitchFamily="34" charset="0"/>
                <a:sym typeface="+mn-ea"/>
              </a:rPr>
              <a:t>REFERENCES</a:t>
            </a:r>
            <a:endParaRPr lang="en-US" dirty="0"/>
          </a:p>
        </p:txBody>
      </p:sp>
      <p:sp>
        <p:nvSpPr>
          <p:cNvPr id="3" name="Text Placeholder 2"/>
          <p:cNvSpPr>
            <a:spLocks noGrp="1"/>
          </p:cNvSpPr>
          <p:nvPr>
            <p:ph type="body" idx="1"/>
          </p:nvPr>
        </p:nvSpPr>
        <p:spPr>
          <a:xfrm>
            <a:off x="277495" y="1219200"/>
            <a:ext cx="8588375" cy="5393690"/>
          </a:xfrm>
        </p:spPr>
        <p:txBody>
          <a:bodyPr>
            <a:noAutofit/>
          </a:bodyPr>
          <a:lstStyle/>
          <a:p>
            <a:pPr marL="285750" indent="-285750" algn="just">
              <a:lnSpc>
                <a:spcPct val="15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sym typeface="+mn-ea"/>
              </a:rPr>
              <a:t>Kumar, V., &amp; others. (2024). Spam Detection on YouTube Comments Using Advanced Machine Learning Models: A Comparative Study. ResearchGate.</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charset="0"/>
              <a:buChar char="v"/>
            </a:pPr>
            <a:r>
              <a:rPr lang="en-US" altLang="en-US" dirty="0" err="1">
                <a:latin typeface="Times New Roman" panose="02020603050405020304" pitchFamily="18" charset="0"/>
                <a:cs typeface="Times New Roman" panose="02020603050405020304" pitchFamily="18" charset="0"/>
                <a:sym typeface="+mn-ea"/>
              </a:rPr>
              <a:t>Bassiouni</a:t>
            </a:r>
            <a:r>
              <a:rPr lang="en-US" altLang="en-US" dirty="0">
                <a:latin typeface="Times New Roman" panose="02020603050405020304" pitchFamily="18" charset="0"/>
                <a:cs typeface="Times New Roman" panose="02020603050405020304" pitchFamily="18" charset="0"/>
                <a:sym typeface="+mn-ea"/>
              </a:rPr>
              <a:t>, M., &amp; others. (2022). Deep Convolutional Forest: A Dynamic Deep Ensemble Approach for Spam Detection in Text. Complex &amp; Intelligent Systems.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sym typeface="+mn-ea"/>
              </a:rPr>
              <a:t>Sultana, A., &amp; others. (2023). Fake News Detection Using Machine Learning Techniques. ResearchGate.</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charset="0"/>
              <a:buChar char="v"/>
            </a:pPr>
            <a:r>
              <a:rPr lang="en-US" altLang="en-US" dirty="0" err="1">
                <a:latin typeface="Times New Roman" panose="02020603050405020304" pitchFamily="18" charset="0"/>
                <a:cs typeface="Times New Roman" panose="02020603050405020304" pitchFamily="18" charset="0"/>
                <a:sym typeface="+mn-ea"/>
              </a:rPr>
              <a:t>Albraikan</a:t>
            </a:r>
            <a:r>
              <a:rPr lang="en-US" altLang="en-US" dirty="0">
                <a:latin typeface="Times New Roman" panose="02020603050405020304" pitchFamily="18" charset="0"/>
                <a:cs typeface="Times New Roman" panose="02020603050405020304" pitchFamily="18" charset="0"/>
                <a:sym typeface="+mn-ea"/>
              </a:rPr>
              <a:t>, A., &amp; others. (2023). A Knowledge-Aware NLP-Driven Conversational Model to Detect Deceptive Contents on Social Media Posts. ScienceDirect.</a:t>
            </a: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charset="0"/>
              <a:buChar char="v"/>
            </a:pPr>
            <a:r>
              <a:rPr lang="en-US" altLang="en-US" dirty="0">
                <a:latin typeface="Times New Roman" panose="02020603050405020304" pitchFamily="18" charset="0"/>
                <a:cs typeface="Times New Roman" panose="02020603050405020304" pitchFamily="18" charset="0"/>
                <a:sym typeface="+mn-ea"/>
              </a:rPr>
              <a:t>Zhang, L., &amp; others. (2022). A Survey on Text Classification: From Traditional to Deep Learning. ACM Transactions on Intelligent Systems and Technology.</a:t>
            </a:r>
            <a:endParaRPr lang="en-US" dirty="0"/>
          </a:p>
        </p:txBody>
      </p:sp>
      <p:pic>
        <p:nvPicPr>
          <p:cNvPr id="5" name="Content Placeholder 4"/>
          <p:cNvPicPr>
            <a:picLocks noChangeAspect="1"/>
          </p:cNvPicPr>
          <p:nvPr/>
        </p:nvPicPr>
        <p:blipFill>
          <a:blip r:embed="rId2"/>
          <a:stretch>
            <a:fillRect/>
          </a:stretch>
        </p:blipFill>
        <p:spPr>
          <a:xfrm>
            <a:off x="0" y="0"/>
            <a:ext cx="1115695" cy="8502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3752" y="2291715"/>
            <a:ext cx="5147945" cy="1031240"/>
          </a:xfrm>
          <a:prstGeom prst="rect">
            <a:avLst/>
          </a:prstGeom>
        </p:spPr>
        <p:txBody>
          <a:bodyPr vert="horz" wrap="square" lIns="0" tIns="12700" rIns="0" bIns="0" rtlCol="0">
            <a:spAutoFit/>
          </a:bodyPr>
          <a:lstStyle/>
          <a:p>
            <a:pPr marL="12700">
              <a:lnSpc>
                <a:spcPct val="100000"/>
              </a:lnSpc>
              <a:spcBef>
                <a:spcPts val="100"/>
              </a:spcBef>
            </a:pPr>
            <a:r>
              <a:rPr sz="6600" b="1" dirty="0">
                <a:latin typeface="Times New Roman" panose="02020603050405020304" pitchFamily="18" charset="0"/>
                <a:cs typeface="Times New Roman" panose="02020603050405020304" pitchFamily="18" charset="0"/>
              </a:rPr>
              <a:t>Thank</a:t>
            </a:r>
            <a:r>
              <a:rPr sz="6600" b="1" spc="145" dirty="0">
                <a:latin typeface="Times New Roman" panose="02020603050405020304" pitchFamily="18" charset="0"/>
                <a:cs typeface="Times New Roman" panose="02020603050405020304" pitchFamily="18" charset="0"/>
              </a:rPr>
              <a:t> </a:t>
            </a:r>
            <a:r>
              <a:rPr sz="6600" b="1" spc="-550" dirty="0">
                <a:latin typeface="Times New Roman" panose="02020603050405020304" pitchFamily="18" charset="0"/>
                <a:cs typeface="Times New Roman" panose="02020603050405020304" pitchFamily="18" charset="0"/>
              </a:rPr>
              <a:t>Y</a:t>
            </a:r>
            <a:r>
              <a:rPr sz="6600" b="1" spc="20" dirty="0">
                <a:latin typeface="Times New Roman" panose="02020603050405020304" pitchFamily="18" charset="0"/>
                <a:cs typeface="Times New Roman" panose="02020603050405020304" pitchFamily="18" charset="0"/>
              </a:rPr>
              <a:t>ou</a:t>
            </a:r>
            <a:r>
              <a:rPr sz="6600" b="1" spc="15" dirty="0">
                <a:latin typeface="Times New Roman" panose="02020603050405020304" pitchFamily="18" charset="0"/>
                <a:cs typeface="Times New Roman" panose="02020603050405020304" pitchFamily="18" charset="0"/>
              </a:rPr>
              <a:t>!</a:t>
            </a:r>
            <a:endParaRPr sz="6600" b="1" dirty="0">
              <a:latin typeface="Times New Roman" panose="02020603050405020304" pitchFamily="18" charset="0"/>
              <a:cs typeface="Times New Roman" panose="02020603050405020304" pitchFamily="18" charset="0"/>
            </a:endParaRPr>
          </a:p>
        </p:txBody>
      </p:sp>
      <p:sp>
        <p:nvSpPr>
          <p:cNvPr id="3" name="object 3"/>
          <p:cNvSpPr txBox="1"/>
          <p:nvPr/>
        </p:nvSpPr>
        <p:spPr>
          <a:xfrm>
            <a:off x="5676391" y="5339308"/>
            <a:ext cx="2661920" cy="331470"/>
          </a:xfrm>
          <a:prstGeom prst="rect">
            <a:avLst/>
          </a:prstGeom>
        </p:spPr>
        <p:txBody>
          <a:bodyPr vert="horz" wrap="square" lIns="0" tIns="13335" rIns="0" bIns="0" rtlCol="0">
            <a:spAutoFit/>
          </a:bodyPr>
          <a:lstStyle/>
          <a:p>
            <a:pPr marL="12700">
              <a:lnSpc>
                <a:spcPct val="100000"/>
              </a:lnSpc>
              <a:spcBef>
                <a:spcPts val="105"/>
              </a:spcBef>
            </a:pPr>
            <a:r>
              <a:rPr sz="2000" b="1" spc="-20" dirty="0">
                <a:latin typeface="Calibri" panose="020F0502020204030204"/>
                <a:cs typeface="Calibri" panose="020F0502020204030204"/>
              </a:rPr>
              <a:t>Presented</a:t>
            </a:r>
            <a:r>
              <a:rPr sz="2000" b="1" spc="-45" dirty="0">
                <a:latin typeface="Calibri" panose="020F0502020204030204"/>
                <a:cs typeface="Calibri" panose="020F0502020204030204"/>
              </a:rPr>
              <a:t> </a:t>
            </a:r>
            <a:r>
              <a:rPr sz="2000" b="1" dirty="0">
                <a:latin typeface="Calibri" panose="020F0502020204030204"/>
                <a:cs typeface="Calibri" panose="020F0502020204030204"/>
              </a:rPr>
              <a:t>by</a:t>
            </a:r>
            <a:r>
              <a:rPr sz="2000" b="1" spc="-45" dirty="0">
                <a:latin typeface="Calibri" panose="020F0502020204030204"/>
                <a:cs typeface="Calibri" panose="020F0502020204030204"/>
              </a:rPr>
              <a:t> </a:t>
            </a:r>
            <a:r>
              <a:rPr sz="2000" spc="-45" dirty="0">
                <a:latin typeface="Calibri" panose="020F0502020204030204"/>
                <a:cs typeface="Calibri" panose="020F0502020204030204"/>
              </a:rPr>
              <a:t>:P.V.Dharani</a:t>
            </a:r>
            <a:endParaRPr sz="2000" dirty="0">
              <a:latin typeface="Calibri" panose="020F0502020204030204"/>
              <a:cs typeface="Calibri" panose="020F0502020204030204"/>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MCA</a:t>
            </a:r>
            <a:r>
              <a:rPr spc="-70" dirty="0"/>
              <a:t> </a:t>
            </a:r>
            <a:r>
              <a:rPr dirty="0"/>
              <a:t>IV</a:t>
            </a:r>
            <a:r>
              <a:rPr spc="-65" dirty="0"/>
              <a:t> </a:t>
            </a:r>
            <a:r>
              <a:rPr spc="-20" dirty="0"/>
              <a:t>Semester</a:t>
            </a:r>
            <a:r>
              <a:rPr spc="-85" dirty="0"/>
              <a:t> </a:t>
            </a:r>
            <a:r>
              <a:rPr dirty="0"/>
              <a:t>Project</a:t>
            </a:r>
            <a:r>
              <a:rPr spc="-80" dirty="0"/>
              <a:t> </a:t>
            </a:r>
            <a:r>
              <a:rPr dirty="0"/>
              <a:t>I</a:t>
            </a:r>
            <a:r>
              <a:rPr spc="-75" dirty="0"/>
              <a:t> </a:t>
            </a:r>
            <a:r>
              <a:rPr dirty="0"/>
              <a:t>Review</a:t>
            </a:r>
            <a:r>
              <a:rPr spc="-75" dirty="0"/>
              <a:t> </a:t>
            </a:r>
            <a:r>
              <a:rPr spc="-10" dirty="0"/>
              <a:t>Presentation</a:t>
            </a:r>
          </a:p>
        </p:txBody>
      </p:sp>
      <p:pic>
        <p:nvPicPr>
          <p:cNvPr id="5" name="object 5"/>
          <p:cNvPicPr/>
          <p:nvPr/>
        </p:nvPicPr>
        <p:blipFill>
          <a:blip r:embed="rId2" cstate="print"/>
          <a:stretch>
            <a:fillRect/>
          </a:stretch>
        </p:blipFill>
        <p:spPr>
          <a:xfrm>
            <a:off x="0" y="21335"/>
            <a:ext cx="1117092" cy="9006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1831</Words>
  <Application>Microsoft Office PowerPoint</Application>
  <PresentationFormat>On-screen Show (4:3)</PresentationFormat>
  <Paragraphs>237</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Segoe UI</vt:lpstr>
      <vt:lpstr>Times New Roman</vt:lpstr>
      <vt:lpstr>Wingdings</vt:lpstr>
      <vt:lpstr>Office Theme</vt:lpstr>
      <vt:lpstr>Student Name</vt:lpstr>
      <vt:lpstr>Contents</vt:lpstr>
      <vt:lpstr>ABSTRACT</vt:lpstr>
      <vt:lpstr>INTRODUCTION</vt:lpstr>
      <vt:lpstr>PROBLEM STATEMENT</vt:lpstr>
      <vt:lpstr>EXISTING SYSTEM</vt:lpstr>
      <vt:lpstr>DISADVANTAGES:</vt:lpstr>
      <vt:lpstr>PROPOSED SYSTEM</vt:lpstr>
      <vt:lpstr>PowerPoint Presentation</vt:lpstr>
      <vt:lpstr>SOFTWARE REQUIREMENTS</vt:lpstr>
      <vt:lpstr>HARDWARE REQUIREMNTS</vt:lpstr>
      <vt:lpstr>                                   MODULES</vt:lpstr>
      <vt:lpstr>                    MODULES DESCRIPTION                </vt:lpstr>
      <vt:lpstr>                   MODULES DESCRIPTION</vt:lpstr>
      <vt:lpstr>                       UML DIAGRAMS</vt:lpstr>
      <vt:lpstr>                           ER DIAGRAM</vt:lpstr>
      <vt:lpstr>     DATA FLOW DIAGRAM </vt:lpstr>
      <vt:lpstr>   DATA FLOW DIAGRAM</vt:lpstr>
      <vt:lpstr>CLASS DIAGRAM</vt:lpstr>
      <vt:lpstr>USECASE DIAGRAM</vt:lpstr>
      <vt:lpstr>SEQUENCE DIAGRAM</vt:lpstr>
      <vt:lpstr>COLLABORATION DIAGRAM</vt:lpstr>
      <vt:lpstr>DEPLOYMENT DIAGRAM</vt:lpstr>
      <vt:lpstr>ACTIVITY DIAGRAM:</vt:lpstr>
      <vt:lpstr>SYSTEM TESTING</vt:lpstr>
      <vt:lpstr>SYSTEM TESTING</vt:lpstr>
      <vt:lpstr>SYSTEM TESTING</vt:lpstr>
      <vt:lpstr>SCREEN SHOTS</vt:lpstr>
      <vt:lpstr>SCREEN SHOTS</vt:lpstr>
      <vt:lpstr>SCREEN SHOTS</vt:lpstr>
      <vt:lpstr>SCREEN SHOTS</vt:lpstr>
      <vt:lpstr>CONCLUSION</vt:lpstr>
      <vt:lpstr>REFERENCES</vt:lpstr>
      <vt:lpstr>REFERENCES</vt:lpstr>
      <vt:lpstr>MCA IV Semester Project I Review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Name</dc:title>
  <dc:creator>PV DHARANI</dc:creator>
  <cp:lastModifiedBy>dhanu dharani</cp:lastModifiedBy>
  <cp:revision>19</cp:revision>
  <dcterms:created xsi:type="dcterms:W3CDTF">2025-04-12T13:13:00Z</dcterms:created>
  <dcterms:modified xsi:type="dcterms:W3CDTF">2025-06-18T15:48:07Z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2025-03-21T07:00:00Z</vt:filetime>
  </property>
  <property fmtid="{D5CDD505-2E9C-101B-9397-08002B2CF9AE}" pid="3" name="Creator">
    <vt:lpwstr>WPS Presentation</vt:lpwstr>
  </property>
  <property fmtid="{D5CDD505-2E9C-101B-9397-08002B2CF9AE}" pid="4" name="LastSaved">
    <vt:filetime>2025-04-14T07:00:00Z</vt:filetime>
  </property>
  <property fmtid="{D5CDD505-2E9C-101B-9397-08002B2CF9AE}" pid="5" name="SourceModified">
    <vt:lpwstr>D:20250319091351+05'30'</vt:lpwstr>
  </property>
  <property fmtid="{D5CDD505-2E9C-101B-9397-08002B2CF9AE}" pid="6" name="ICV">
    <vt:lpwstr>56B1834EEBBD46A3BDC30BA6927F78EA_13</vt:lpwstr>
  </property>
  <property fmtid="{D5CDD505-2E9C-101B-9397-08002B2CF9AE}" pid="7" name="KSOProductBuildVer">
    <vt:lpwstr>1033-12.2.0.21179</vt:lpwstr>
  </property>
</Properties>
</file>